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46ebc3827fec45c3" /><Relationship Type="http://schemas.openxmlformats.org/officeDocument/2006/relationships/extended-properties" Target="/docProps/app.xml" Id="R80d90e69d9b24467" /><Relationship Type="http://schemas.openxmlformats.org/officeDocument/2006/relationships/officeDocument" Target="/ppt/presentation.xml" Id="R079f0fb574b64813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2ef59bd8b1414f8b"/>
  </p:sldMasterIdLst>
  <p:notesMasterIdLst>
    <p:notesMasterId xmlns:r="http://schemas.openxmlformats.org/officeDocument/2006/relationships" r:id="Rfe91f533ec834262"/>
  </p:notesMasterIdLst>
  <p:sldIdLst>
    <p:sldId xmlns:r="http://schemas.openxmlformats.org/officeDocument/2006/relationships" id="256" r:id="Rc69a87cbc0c6458a"/>
    <p:sldId xmlns:r="http://schemas.openxmlformats.org/officeDocument/2006/relationships" id="257" r:id="R6fbbf104c57b4f70"/>
    <p:sldId xmlns:r="http://schemas.openxmlformats.org/officeDocument/2006/relationships" id="258" r:id="R266e07ecd00242bd"/>
    <p:sldId xmlns:r="http://schemas.openxmlformats.org/officeDocument/2006/relationships" id="259" r:id="R703286fe549349ad"/>
    <p:sldId xmlns:r="http://schemas.openxmlformats.org/officeDocument/2006/relationships" id="260" r:id="Rfc89dccd04ec40eb"/>
    <p:sldId xmlns:r="http://schemas.openxmlformats.org/officeDocument/2006/relationships" id="261" r:id="R7bec041e010c4910"/>
    <p:sldId xmlns:r="http://schemas.openxmlformats.org/officeDocument/2006/relationships" id="262" r:id="R45cbdff8be704fcc"/>
    <p:sldId xmlns:r="http://schemas.openxmlformats.org/officeDocument/2006/relationships" id="263" r:id="R01b7e26de5fd4840"/>
    <p:sldId xmlns:r="http://schemas.openxmlformats.org/officeDocument/2006/relationships" id="264" r:id="R899d1b1df67c4c1d"/>
    <p:sldId xmlns:r="http://schemas.openxmlformats.org/officeDocument/2006/relationships" id="265" r:id="Rb014bc2eb706411a"/>
    <p:sldId xmlns:r="http://schemas.openxmlformats.org/officeDocument/2006/relationships" id="266" r:id="R14d952fab21c42f6"/>
    <p:sldId xmlns:r="http://schemas.openxmlformats.org/officeDocument/2006/relationships" id="267" r:id="R796a9ee03cf24287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d3991b55dff44cc8" /><Relationship Type="http://schemas.openxmlformats.org/officeDocument/2006/relationships/slideMaster" Target="/ppt/slideMasters/slideMaster1.xml" Id="R2ef59bd8b1414f8b" /><Relationship Type="http://schemas.openxmlformats.org/officeDocument/2006/relationships/notesMaster" Target="/ppt/notesMasters/notesMaster1.xml" Id="Rfe91f533ec834262" /><Relationship Type="http://schemas.openxmlformats.org/officeDocument/2006/relationships/presProps" Target="/ppt/presProps.xml" Id="R04befa8cc45b467a" /><Relationship Type="http://schemas.openxmlformats.org/officeDocument/2006/relationships/tableStyles" Target="/ppt/tableStyles.xml" Id="Rada816de1c964623" /><Relationship Type="http://schemas.openxmlformats.org/officeDocument/2006/relationships/slide" Target="/ppt/slides/slide1.xml" Id="Rc69a87cbc0c6458a" /><Relationship Type="http://schemas.openxmlformats.org/officeDocument/2006/relationships/slide" Target="/ppt/slides/slide2.xml" Id="R6fbbf104c57b4f70" /><Relationship Type="http://schemas.openxmlformats.org/officeDocument/2006/relationships/slide" Target="/ppt/slides/slide3.xml" Id="R266e07ecd00242bd" /><Relationship Type="http://schemas.openxmlformats.org/officeDocument/2006/relationships/slide" Target="/ppt/slides/slide4.xml" Id="R703286fe549349ad" /><Relationship Type="http://schemas.openxmlformats.org/officeDocument/2006/relationships/slide" Target="/ppt/slides/slide5.xml" Id="Rfc89dccd04ec40eb" /><Relationship Type="http://schemas.openxmlformats.org/officeDocument/2006/relationships/slide" Target="/ppt/slides/slide6.xml" Id="R7bec041e010c4910" /><Relationship Type="http://schemas.openxmlformats.org/officeDocument/2006/relationships/slide" Target="/ppt/slides/slide7.xml" Id="R45cbdff8be704fcc" /><Relationship Type="http://schemas.openxmlformats.org/officeDocument/2006/relationships/slide" Target="/ppt/slides/slide8.xml" Id="R01b7e26de5fd4840" /><Relationship Type="http://schemas.openxmlformats.org/officeDocument/2006/relationships/slide" Target="/ppt/slides/slide9.xml" Id="R899d1b1df67c4c1d" /><Relationship Type="http://schemas.openxmlformats.org/officeDocument/2006/relationships/slide" Target="/ppt/slides/slide10.xml" Id="Rb014bc2eb706411a" /><Relationship Type="http://schemas.openxmlformats.org/officeDocument/2006/relationships/slide" Target="/ppt/slides/slide11.xml" Id="R14d952fab21c42f6" /><Relationship Type="http://schemas.openxmlformats.org/officeDocument/2006/relationships/slide" Target="/ppt/slides/slide12.xml" Id="R796a9ee03cf24287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8ebd817689954166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75fd7d8584aa479e" /><Relationship Type="http://schemas.openxmlformats.org/officeDocument/2006/relationships/notesMaster" Target="/ppt/notesMasters/notesMaster1.xml" Id="R72679e48b7754863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d30776d92ced406e" /><Relationship Type="http://schemas.openxmlformats.org/officeDocument/2006/relationships/notesMaster" Target="/ppt/notesMasters/notesMaster1.xml" Id="R64e315c219c24ce8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c49f0900a5b847c1" /><Relationship Type="http://schemas.openxmlformats.org/officeDocument/2006/relationships/notesMaster" Target="/ppt/notesMasters/notesMaster1.xml" Id="R021d329718564e38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7504a7a78d47401c" /><Relationship Type="http://schemas.openxmlformats.org/officeDocument/2006/relationships/notesMaster" Target="/ppt/notesMasters/notesMaster1.xml" Id="Rfe642d4565224b25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96d600fb685c49ab" /><Relationship Type="http://schemas.openxmlformats.org/officeDocument/2006/relationships/notesMaster" Target="/ppt/notesMasters/notesMaster1.xml" Id="Rc1892e3921c84d00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365c2f88129e45c8" /><Relationship Type="http://schemas.openxmlformats.org/officeDocument/2006/relationships/notesMaster" Target="/ppt/notesMasters/notesMaster1.xml" Id="Rdb1125a022c84b20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cb4251b13950436b" /><Relationship Type="http://schemas.openxmlformats.org/officeDocument/2006/relationships/notesMaster" Target="/ppt/notesMasters/notesMaster1.xml" Id="R228eb99b653342fd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567e4eda3db240a6" /><Relationship Type="http://schemas.openxmlformats.org/officeDocument/2006/relationships/notesMaster" Target="/ppt/notesMasters/notesMaster1.xml" Id="R528e13554b7949f2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488764c050c24264" /><Relationship Type="http://schemas.openxmlformats.org/officeDocument/2006/relationships/notesMaster" Target="/ppt/notesMasters/notesMaster1.xml" Id="Rb4c2048bdab94575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35b41328e91a42fe" /><Relationship Type="http://schemas.openxmlformats.org/officeDocument/2006/relationships/notesMaster" Target="/ppt/notesMasters/notesMaster1.xml" Id="Redbca920b7344820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a5d6bbebaa074a15" /><Relationship Type="http://schemas.openxmlformats.org/officeDocument/2006/relationships/notesMaster" Target="/ppt/notesMasters/notesMaster1.xml" Id="Rcfbaa2b81df44c66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53722cc7224c4ed7" /><Relationship Type="http://schemas.openxmlformats.org/officeDocument/2006/relationships/notesMaster" Target="/ppt/notesMasters/notesMaster1.xml" Id="Rf85f1006edf04c13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b7d3d0ad9ea431e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933067412824745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a641e63848a4923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4ac758569414afc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c017e0b940f4855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b7c1e1762e3451f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239424D1-963C-4901-9675-C6FF4F56929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D3821782-A5BA-4932-806C-521A1B9AC20F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51EC9182-7AC2-45C7-A706-B1CD8FB5582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4CFE10CC-8D71-47EF-B415-DEB852C229D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11A9BC95-E4FE-4AA2-ADB0-C70405D2E95C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786189A4-9123-4AB7-8C91-BA0F8AEBA0D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04325F67-859F-499B-B200-44D8186DD299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68C0E2E9-B27A-453E-9339-4D759E5A2A89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38F6C7C8-8AFA-4348-B15D-E9DB54F63F5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4E434F45-6048-463D-9ECC-C5A205062F8F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c7a465b6897d4d51" /><Relationship Type="http://schemas.openxmlformats.org/officeDocument/2006/relationships/slideLayout" Target="/ppt/slideLayouts/slideLayout1.xml" Id="Rdd66cac6fda44cb5" /><Relationship Type="http://schemas.openxmlformats.org/officeDocument/2006/relationships/slideLayout" Target="/ppt/slideLayouts/slideLayout2.xml" Id="Rdf4eab5e18914ea0" /><Relationship Type="http://schemas.openxmlformats.org/officeDocument/2006/relationships/slideLayout" Target="/ppt/slideLayouts/slideLayout3.xml" Id="Rc4d5eba59a0e48b5" /><Relationship Type="http://schemas.openxmlformats.org/officeDocument/2006/relationships/slideLayout" Target="/ppt/slideLayouts/slideLayout4.xml" Id="Rbe25d3599b4646c0" /><Relationship Type="http://schemas.openxmlformats.org/officeDocument/2006/relationships/slideLayout" Target="/ppt/slideLayouts/slideLayout5.xml" Id="Rc615669a2cc64512" /><Relationship Type="http://schemas.openxmlformats.org/officeDocument/2006/relationships/slideLayout" Target="/ppt/slideLayouts/slideLayout6.xml" Id="R2804ec1c212247a3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dd66cac6fda44cb5"/>
    <p:sldLayoutId xmlns:r="http://schemas.openxmlformats.org/officeDocument/2006/relationships" id="2147483650" r:id="Rdf4eab5e18914ea0"/>
    <p:sldLayoutId xmlns:r="http://schemas.openxmlformats.org/officeDocument/2006/relationships" id="2147483651" r:id="Rc4d5eba59a0e48b5"/>
    <p:sldLayoutId xmlns:r="http://schemas.openxmlformats.org/officeDocument/2006/relationships" id="2147483652" r:id="Rbe25d3599b4646c0"/>
    <p:sldLayoutId xmlns:r="http://schemas.openxmlformats.org/officeDocument/2006/relationships" id="2147483653" r:id="Rc615669a2cc64512"/>
    <p:sldLayoutId xmlns:r="http://schemas.openxmlformats.org/officeDocument/2006/relationships" id="2147483654" r:id="R2804ec1c212247a3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313003a2c484416" /><Relationship Type="http://schemas.openxmlformats.org/officeDocument/2006/relationships/notesSlide" Target="/ppt/notesSlides/notesSlide1.xml" Id="R750ba47a4ed646b5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541a6739a714e39" /><Relationship Type="http://schemas.openxmlformats.org/officeDocument/2006/relationships/notesSlide" Target="/ppt/notesSlides/notesSlide2.xml" Id="R40c1fd52a47449bb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564d8260ac44221" /><Relationship Type="http://schemas.openxmlformats.org/officeDocument/2006/relationships/notesSlide" Target="/ppt/notesSlides/notesSlide3.xml" Id="Rc9e07f7cc9194463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4d44e1d537c4d52" /><Relationship Type="http://schemas.openxmlformats.org/officeDocument/2006/relationships/notesSlide" Target="/ppt/notesSlides/notesSlide4.xml" Id="R8f83eade7f0f4ac3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3973ad9c4224104" /><Relationship Type="http://schemas.openxmlformats.org/officeDocument/2006/relationships/notesSlide" Target="/ppt/notesSlides/notesSlide5.xml" Id="Re4ed398e07074be3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a549472521c484a" /><Relationship Type="http://schemas.openxmlformats.org/officeDocument/2006/relationships/notesSlide" Target="/ppt/notesSlides/notesSlide6.xml" Id="R8c879c933f1c4d7a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af49dccf3174905" /><Relationship Type="http://schemas.openxmlformats.org/officeDocument/2006/relationships/notesSlide" Target="/ppt/notesSlides/notesSlide7.xml" Id="Rbb1a1630c67e4286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8bbd24b1a514035" /><Relationship Type="http://schemas.openxmlformats.org/officeDocument/2006/relationships/notesSlide" Target="/ppt/notesSlides/notesSlide8.xml" Id="R524d1423088b4f87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2d6ba78cf2c4cfb" /><Relationship Type="http://schemas.openxmlformats.org/officeDocument/2006/relationships/notesSlide" Target="/ppt/notesSlides/notesSlide9.xml" Id="Rddd404904d9e4506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3cdb197bb7c4ed1" /><Relationship Type="http://schemas.openxmlformats.org/officeDocument/2006/relationships/notesSlide" Target="/ppt/notesSlides/notesSlide10.xml" Id="R59ce0d6e6d7f4b56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23efc8cc2cf4046" /><Relationship Type="http://schemas.openxmlformats.org/officeDocument/2006/relationships/notesSlide" Target="/ppt/notesSlides/notesSlide11.xml" Id="R87a19ad1663c4d96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27ed17d70b1488c" /><Relationship Type="http://schemas.openxmlformats.org/officeDocument/2006/relationships/notesSlide" Target="/ppt/notesSlides/notesSlide12.xml" Id="Re31265de72b6480f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0294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90BF055-D696-45CA-91DC-B719BC68CC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57200"/>
            <a:ext cx="857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>
                <a:solidFill>
                  <a:srgbClr val="65D6D6"/>
                </a:solidFill>
              </a:defRPr>
            </a:defPPr>
            <a:lvl1pPr>
              <a:defRPr sz="1200" b="1">
                <a:solidFill>
                  <a:srgbClr val="65D6D6"/>
                </a:solidFill>
              </a:defRPr>
            </a:lvl1pPr>
            <a:lvl2pPr>
              <a:defRPr sz="1200" b="1">
                <a:solidFill>
                  <a:srgbClr val="65D6D6"/>
                </a:solidFill>
              </a:defRPr>
            </a:lvl2pPr>
            <a:lvl3pPr>
              <a:defRPr sz="1200" b="1">
                <a:solidFill>
                  <a:srgbClr val="65D6D6"/>
                </a:solidFill>
              </a:defRPr>
            </a:lvl3pPr>
            <a:lvl4pPr>
              <a:defRPr sz="1200" b="1">
                <a:solidFill>
                  <a:srgbClr val="65D6D6"/>
                </a:solidFill>
              </a:defRPr>
            </a:lvl4pPr>
            <a:lvl5pPr>
              <a:defRPr sz="1200" b="1">
                <a:solidFill>
                  <a:srgbClr val="65D6D6"/>
                </a:solidFill>
              </a:defRPr>
            </a:lvl5pPr>
            <a:lvl6pPr>
              <a:defRPr sz="1200" b="1">
                <a:solidFill>
                  <a:srgbClr val="65D6D6"/>
                </a:solidFill>
              </a:defRPr>
            </a:lvl6pPr>
            <a:lvl7pPr>
              <a:defRPr sz="1200" b="1">
                <a:solidFill>
                  <a:srgbClr val="65D6D6"/>
                </a:solidFill>
              </a:defRPr>
            </a:lvl7pPr>
            <a:lvl8pPr>
              <a:defRPr sz="1200" b="1">
                <a:solidFill>
                  <a:srgbClr val="65D6D6"/>
                </a:solidFill>
              </a:defRPr>
            </a:lvl8pPr>
            <a:lvl9pPr>
              <a:defRPr sz="1200" b="1">
                <a:solidFill>
                  <a:srgbClr val="65D6D6"/>
                </a:solidFill>
              </a:defRPr>
            </a:lvl9pPr>
          </a:lstStyle>
          <a:p xmlns:a="http://schemas.openxmlformats.org/drawingml/2006/main">
            <a:pPr>
              <a:defRPr sz="1200" b="1">
                <a:solidFill>
                  <a:srgbClr val="65D6D6"/>
                </a:solidFill>
              </a:defRPr>
            </a:pPr>
            <a:r>
              <a:rPr sz="1200" b="1">
                <a:solidFill>
                  <a:srgbClr val="65D6D6"/>
                </a:solidFill>
              </a:rPr>
              <a:t>VYAPAARSAATHI  /  TRACK 03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00564C1-8E56-4130-AAA0-37C93CE838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047750"/>
            <a:ext cx="10572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4350" b="1">
                <a:solidFill>
                  <a:srgbClr val="FFFFFF"/>
                </a:solidFill>
              </a:defRPr>
            </a:defPPr>
            <a:lvl1pPr>
              <a:defRPr sz="4350" b="1">
                <a:solidFill>
                  <a:srgbClr val="FFFFFF"/>
                </a:solidFill>
              </a:defRPr>
            </a:lvl1pPr>
            <a:lvl2pPr>
              <a:defRPr sz="4350" b="1">
                <a:solidFill>
                  <a:srgbClr val="FFFFFF"/>
                </a:solidFill>
              </a:defRPr>
            </a:lvl2pPr>
            <a:lvl3pPr>
              <a:defRPr sz="4350" b="1">
                <a:solidFill>
                  <a:srgbClr val="FFFFFF"/>
                </a:solidFill>
              </a:defRPr>
            </a:lvl3pPr>
            <a:lvl4pPr>
              <a:defRPr sz="4350" b="1">
                <a:solidFill>
                  <a:srgbClr val="FFFFFF"/>
                </a:solidFill>
              </a:defRPr>
            </a:lvl4pPr>
            <a:lvl5pPr>
              <a:defRPr sz="4350" b="1">
                <a:solidFill>
                  <a:srgbClr val="FFFFFF"/>
                </a:solidFill>
              </a:defRPr>
            </a:lvl5pPr>
            <a:lvl6pPr>
              <a:defRPr sz="4350" b="1">
                <a:solidFill>
                  <a:srgbClr val="FFFFFF"/>
                </a:solidFill>
              </a:defRPr>
            </a:lvl6pPr>
            <a:lvl7pPr>
              <a:defRPr sz="4350" b="1">
                <a:solidFill>
                  <a:srgbClr val="FFFFFF"/>
                </a:solidFill>
              </a:defRPr>
            </a:lvl7pPr>
            <a:lvl8pPr>
              <a:defRPr sz="4350" b="1">
                <a:solidFill>
                  <a:srgbClr val="FFFFFF"/>
                </a:solidFill>
              </a:defRPr>
            </a:lvl8pPr>
            <a:lvl9pPr>
              <a:defRPr sz="4350" b="1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>
              <a:defRPr sz="4350" b="1">
                <a:solidFill>
                  <a:srgbClr val="FFFFFF"/>
                </a:solidFill>
              </a:defRPr>
            </a:pPr>
            <a:r>
              <a:rPr sz="4350" b="1">
                <a:solidFill>
                  <a:srgbClr val="FFFFFF"/>
                </a:solidFill>
              </a:rPr>
              <a:t>VyapaarSaathi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0747118-EF71-4B91-A086-616AFC4BDE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333625"/>
            <a:ext cx="102870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325" b="1">
                <a:solidFill>
                  <a:srgbClr val="DAF1F1"/>
                </a:solidFill>
              </a:defRPr>
            </a:defPPr>
            <a:lvl1pPr>
              <a:defRPr sz="2325" b="1">
                <a:solidFill>
                  <a:srgbClr val="DAF1F1"/>
                </a:solidFill>
              </a:defRPr>
            </a:lvl1pPr>
            <a:lvl2pPr>
              <a:defRPr sz="2325" b="1">
                <a:solidFill>
                  <a:srgbClr val="DAF1F1"/>
                </a:solidFill>
              </a:defRPr>
            </a:lvl2pPr>
            <a:lvl3pPr>
              <a:defRPr sz="2325" b="1">
                <a:solidFill>
                  <a:srgbClr val="DAF1F1"/>
                </a:solidFill>
              </a:defRPr>
            </a:lvl3pPr>
            <a:lvl4pPr>
              <a:defRPr sz="2325" b="1">
                <a:solidFill>
                  <a:srgbClr val="DAF1F1"/>
                </a:solidFill>
              </a:defRPr>
            </a:lvl4pPr>
            <a:lvl5pPr>
              <a:defRPr sz="2325" b="1">
                <a:solidFill>
                  <a:srgbClr val="DAF1F1"/>
                </a:solidFill>
              </a:defRPr>
            </a:lvl5pPr>
            <a:lvl6pPr>
              <a:defRPr sz="2325" b="1">
                <a:solidFill>
                  <a:srgbClr val="DAF1F1"/>
                </a:solidFill>
              </a:defRPr>
            </a:lvl6pPr>
            <a:lvl7pPr>
              <a:defRPr sz="2325" b="1">
                <a:solidFill>
                  <a:srgbClr val="DAF1F1"/>
                </a:solidFill>
              </a:defRPr>
            </a:lvl7pPr>
            <a:lvl8pPr>
              <a:defRPr sz="2325" b="1">
                <a:solidFill>
                  <a:srgbClr val="DAF1F1"/>
                </a:solidFill>
              </a:defRPr>
            </a:lvl8pPr>
            <a:lvl9pPr>
              <a:defRPr sz="2325" b="1">
                <a:solidFill>
                  <a:srgbClr val="DAF1F1"/>
                </a:solidFill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DAF1F1"/>
                </a:solidFill>
              </a:defRPr>
            </a:pPr>
            <a:r>
              <a:rPr sz="2325" b="1">
                <a:solidFill>
                  <a:srgbClr val="DAF1F1"/>
                </a:solidFill>
              </a:rPr>
              <a:t>An operations teammate for small electronics merchants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5AFF1AC-1286-4629-A477-E6A32ED24A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238625"/>
            <a:ext cx="100965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0">
                <a:solidFill>
                  <a:srgbClr val="B6D0D8"/>
                </a:solidFill>
              </a:defRPr>
            </a:defPPr>
            <a:lvl1pPr>
              <a:defRPr sz="1650" b="0">
                <a:solidFill>
                  <a:srgbClr val="B6D0D8"/>
                </a:solidFill>
              </a:defRPr>
            </a:lvl1pPr>
            <a:lvl2pPr>
              <a:defRPr sz="1650" b="0">
                <a:solidFill>
                  <a:srgbClr val="B6D0D8"/>
                </a:solidFill>
              </a:defRPr>
            </a:lvl2pPr>
            <a:lvl3pPr>
              <a:defRPr sz="1650" b="0">
                <a:solidFill>
                  <a:srgbClr val="B6D0D8"/>
                </a:solidFill>
              </a:defRPr>
            </a:lvl3pPr>
            <a:lvl4pPr>
              <a:defRPr sz="1650" b="0">
                <a:solidFill>
                  <a:srgbClr val="B6D0D8"/>
                </a:solidFill>
              </a:defRPr>
            </a:lvl4pPr>
            <a:lvl5pPr>
              <a:defRPr sz="1650" b="0">
                <a:solidFill>
                  <a:srgbClr val="B6D0D8"/>
                </a:solidFill>
              </a:defRPr>
            </a:lvl5pPr>
            <a:lvl6pPr>
              <a:defRPr sz="1650" b="0">
                <a:solidFill>
                  <a:srgbClr val="B6D0D8"/>
                </a:solidFill>
              </a:defRPr>
            </a:lvl6pPr>
            <a:lvl7pPr>
              <a:defRPr sz="1650" b="0">
                <a:solidFill>
                  <a:srgbClr val="B6D0D8"/>
                </a:solidFill>
              </a:defRPr>
            </a:lvl7pPr>
            <a:lvl8pPr>
              <a:defRPr sz="1650" b="0">
                <a:solidFill>
                  <a:srgbClr val="B6D0D8"/>
                </a:solidFill>
              </a:defRPr>
            </a:lvl8pPr>
            <a:lvl9pPr>
              <a:defRPr sz="1650" b="0">
                <a:solidFill>
                  <a:srgbClr val="B6D0D8"/>
                </a:solidFill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B6D0D8"/>
                </a:solidFill>
              </a:defRPr>
            </a:pPr>
            <a:r>
              <a:rPr sz="1650" b="0">
                <a:solidFill>
                  <a:srgbClr val="B6D0D8"/>
                </a:solidFill>
              </a:rPr>
              <a:t>Paytm Build for India AI Hackathon · Track 3</a:t>
            </a:r>
          </a:p>
          <a:p xmlns:a="http://schemas.openxmlformats.org/drawingml/2006/main">
            <a:pPr>
              <a:defRPr sz="1650" b="0">
                <a:solidFill>
                  <a:srgbClr val="B6D0D8"/>
                </a:solidFill>
              </a:defRPr>
            </a:pPr>
            <a:r>
              <a:rPr sz="1650" b="0">
                <a:solidFill>
                  <a:srgbClr val="B6D0D8"/>
                </a:solidFill>
              </a:rPr>
              <a:t>Synthetic prototype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37AA80A-B241-469C-9A74-CF112D7BA8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353175"/>
            <a:ext cx="8572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0">
                <a:solidFill>
                  <a:srgbClr val="A7C4CA"/>
                </a:solidFill>
              </a:defRPr>
            </a:defPPr>
            <a:lvl1pPr>
              <a:defRPr sz="975" b="0">
                <a:solidFill>
                  <a:srgbClr val="A7C4CA"/>
                </a:solidFill>
              </a:defRPr>
            </a:lvl1pPr>
            <a:lvl2pPr>
              <a:defRPr sz="975" b="0">
                <a:solidFill>
                  <a:srgbClr val="A7C4CA"/>
                </a:solidFill>
              </a:defRPr>
            </a:lvl2pPr>
            <a:lvl3pPr>
              <a:defRPr sz="975" b="0">
                <a:solidFill>
                  <a:srgbClr val="A7C4CA"/>
                </a:solidFill>
              </a:defRPr>
            </a:lvl3pPr>
            <a:lvl4pPr>
              <a:defRPr sz="975" b="0">
                <a:solidFill>
                  <a:srgbClr val="A7C4CA"/>
                </a:solidFill>
              </a:defRPr>
            </a:lvl4pPr>
            <a:lvl5pPr>
              <a:defRPr sz="975" b="0">
                <a:solidFill>
                  <a:srgbClr val="A7C4CA"/>
                </a:solidFill>
              </a:defRPr>
            </a:lvl5pPr>
            <a:lvl6pPr>
              <a:defRPr sz="975" b="0">
                <a:solidFill>
                  <a:srgbClr val="A7C4CA"/>
                </a:solidFill>
              </a:defRPr>
            </a:lvl6pPr>
            <a:lvl7pPr>
              <a:defRPr sz="975" b="0">
                <a:solidFill>
                  <a:srgbClr val="A7C4CA"/>
                </a:solidFill>
              </a:defRPr>
            </a:lvl7pPr>
            <a:lvl8pPr>
              <a:defRPr sz="975" b="0">
                <a:solidFill>
                  <a:srgbClr val="A7C4CA"/>
                </a:solidFill>
              </a:defRPr>
            </a:lvl8pPr>
            <a:lvl9pPr>
              <a:defRPr sz="975" b="0">
                <a:solidFill>
                  <a:srgbClr val="A7C4CA"/>
                </a:solidFill>
              </a:defRPr>
            </a:lvl9pPr>
          </a:lstStyle>
          <a:p xmlns:a="http://schemas.openxmlformats.org/drawingml/2006/main">
            <a:pPr>
              <a:defRPr sz="975" b="0">
                <a:solidFill>
                  <a:srgbClr val="A7C4CA"/>
                </a:solidFill>
              </a:defRPr>
            </a:pPr>
            <a:r>
              <a:rPr sz="975" b="0">
                <a:solidFill>
                  <a:srgbClr val="A7C4CA"/>
                </a:solidFill>
              </a:rPr>
              <a:t>01   /   SYNTHETIC PROTOTYPE</a:t>
            </a:r>
          </a:p>
        </p:txBody>
      </p:sp>
    </p:spTree>
    <p:extLst>
      <p:ext uri="{BB962C8B-B14F-4D97-AF65-F5344CB8AC3E}">
        <p14:creationId xmlns:p14="http://schemas.microsoft.com/office/powerpoint/2010/main" val="1819273979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7FA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A667995-677D-4DE0-9857-36377D4348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57200"/>
            <a:ext cx="857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>
                <a:solidFill>
                  <a:srgbClr val="00828A"/>
                </a:solidFill>
              </a:defRPr>
            </a:defPPr>
            <a:lvl1pPr>
              <a:defRPr sz="1200" b="1">
                <a:solidFill>
                  <a:srgbClr val="00828A"/>
                </a:solidFill>
              </a:defRPr>
            </a:lvl1pPr>
            <a:lvl2pPr>
              <a:defRPr sz="1200" b="1">
                <a:solidFill>
                  <a:srgbClr val="00828A"/>
                </a:solidFill>
              </a:defRPr>
            </a:lvl2pPr>
            <a:lvl3pPr>
              <a:defRPr sz="1200" b="1">
                <a:solidFill>
                  <a:srgbClr val="00828A"/>
                </a:solidFill>
              </a:defRPr>
            </a:lvl3pPr>
            <a:lvl4pPr>
              <a:defRPr sz="1200" b="1">
                <a:solidFill>
                  <a:srgbClr val="00828A"/>
                </a:solidFill>
              </a:defRPr>
            </a:lvl4pPr>
            <a:lvl5pPr>
              <a:defRPr sz="1200" b="1">
                <a:solidFill>
                  <a:srgbClr val="00828A"/>
                </a:solidFill>
              </a:defRPr>
            </a:lvl5pPr>
            <a:lvl6pPr>
              <a:defRPr sz="1200" b="1">
                <a:solidFill>
                  <a:srgbClr val="00828A"/>
                </a:solidFill>
              </a:defRPr>
            </a:lvl6pPr>
            <a:lvl7pPr>
              <a:defRPr sz="1200" b="1">
                <a:solidFill>
                  <a:srgbClr val="00828A"/>
                </a:solidFill>
              </a:defRPr>
            </a:lvl7pPr>
            <a:lvl8pPr>
              <a:defRPr sz="1200" b="1">
                <a:solidFill>
                  <a:srgbClr val="00828A"/>
                </a:solidFill>
              </a:defRPr>
            </a:lvl8pPr>
            <a:lvl9pPr>
              <a:defRPr sz="1200" b="1">
                <a:solidFill>
                  <a:srgbClr val="00828A"/>
                </a:solidFill>
              </a:defRPr>
            </a:lvl9pPr>
          </a:lstStyle>
          <a:p xmlns:a="http://schemas.openxmlformats.org/drawingml/2006/main">
            <a:pPr>
              <a:defRPr sz="1200" b="1">
                <a:solidFill>
                  <a:srgbClr val="00828A"/>
                </a:solidFill>
              </a:defRPr>
            </a:pPr>
            <a:r>
              <a:rPr sz="1200" b="1">
                <a:solidFill>
                  <a:srgbClr val="00828A"/>
                </a:solidFill>
              </a:rPr>
              <a:t>VYAPAARSAATHI  /  TRACK 03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9FD69D6-FFCD-4968-A8D5-D0B38E1FE7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047750"/>
            <a:ext cx="10572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75" b="1">
                <a:solidFill>
                  <a:srgbClr val="102940"/>
                </a:solidFill>
              </a:defRPr>
            </a:defPPr>
            <a:lvl1pPr>
              <a:defRPr sz="3375" b="1">
                <a:solidFill>
                  <a:srgbClr val="102940"/>
                </a:solidFill>
              </a:defRPr>
            </a:lvl1pPr>
            <a:lvl2pPr>
              <a:defRPr sz="3375" b="1">
                <a:solidFill>
                  <a:srgbClr val="102940"/>
                </a:solidFill>
              </a:defRPr>
            </a:lvl2pPr>
            <a:lvl3pPr>
              <a:defRPr sz="3375" b="1">
                <a:solidFill>
                  <a:srgbClr val="102940"/>
                </a:solidFill>
              </a:defRPr>
            </a:lvl3pPr>
            <a:lvl4pPr>
              <a:defRPr sz="3375" b="1">
                <a:solidFill>
                  <a:srgbClr val="102940"/>
                </a:solidFill>
              </a:defRPr>
            </a:lvl4pPr>
            <a:lvl5pPr>
              <a:defRPr sz="3375" b="1">
                <a:solidFill>
                  <a:srgbClr val="102940"/>
                </a:solidFill>
              </a:defRPr>
            </a:lvl5pPr>
            <a:lvl6pPr>
              <a:defRPr sz="3375" b="1">
                <a:solidFill>
                  <a:srgbClr val="102940"/>
                </a:solidFill>
              </a:defRPr>
            </a:lvl6pPr>
            <a:lvl7pPr>
              <a:defRPr sz="3375" b="1">
                <a:solidFill>
                  <a:srgbClr val="102940"/>
                </a:solidFill>
              </a:defRPr>
            </a:lvl7pPr>
            <a:lvl8pPr>
              <a:defRPr sz="3375" b="1">
                <a:solidFill>
                  <a:srgbClr val="102940"/>
                </a:solidFill>
              </a:defRPr>
            </a:lvl8pPr>
            <a:lvl9pPr>
              <a:defRPr sz="3375" b="1">
                <a:solidFill>
                  <a:srgbClr val="102940"/>
                </a:solidFill>
              </a:defRPr>
            </a:lvl9pPr>
          </a:lstStyle>
          <a:p xmlns:a="http://schemas.openxmlformats.org/drawingml/2006/main">
            <a:pPr>
              <a:defRPr sz="3375" b="1">
                <a:solidFill>
                  <a:srgbClr val="102940"/>
                </a:solidFill>
              </a:defRPr>
            </a:pPr>
            <a:r>
              <a:rPr sz="3375" b="1">
                <a:solidFill>
                  <a:srgbClr val="102940"/>
                </a:solidFill>
              </a:rPr>
              <a:t>The problem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ECB0581-D3D2-4467-B295-0C7FF2C6BC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333625"/>
            <a:ext cx="102870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325" b="1">
                <a:solidFill>
                  <a:srgbClr val="173D51"/>
                </a:solidFill>
              </a:defRPr>
            </a:defPPr>
            <a:lvl1pPr>
              <a:defRPr sz="2325" b="1">
                <a:solidFill>
                  <a:srgbClr val="173D51"/>
                </a:solidFill>
              </a:defRPr>
            </a:lvl1pPr>
            <a:lvl2pPr>
              <a:defRPr sz="2325" b="1">
                <a:solidFill>
                  <a:srgbClr val="173D51"/>
                </a:solidFill>
              </a:defRPr>
            </a:lvl2pPr>
            <a:lvl3pPr>
              <a:defRPr sz="2325" b="1">
                <a:solidFill>
                  <a:srgbClr val="173D51"/>
                </a:solidFill>
              </a:defRPr>
            </a:lvl3pPr>
            <a:lvl4pPr>
              <a:defRPr sz="2325" b="1">
                <a:solidFill>
                  <a:srgbClr val="173D51"/>
                </a:solidFill>
              </a:defRPr>
            </a:lvl4pPr>
            <a:lvl5pPr>
              <a:defRPr sz="2325" b="1">
                <a:solidFill>
                  <a:srgbClr val="173D51"/>
                </a:solidFill>
              </a:defRPr>
            </a:lvl5pPr>
            <a:lvl6pPr>
              <a:defRPr sz="2325" b="1">
                <a:solidFill>
                  <a:srgbClr val="173D51"/>
                </a:solidFill>
              </a:defRPr>
            </a:lvl6pPr>
            <a:lvl7pPr>
              <a:defRPr sz="2325" b="1">
                <a:solidFill>
                  <a:srgbClr val="173D51"/>
                </a:solidFill>
              </a:defRPr>
            </a:lvl7pPr>
            <a:lvl8pPr>
              <a:defRPr sz="2325" b="1">
                <a:solidFill>
                  <a:srgbClr val="173D51"/>
                </a:solidFill>
              </a:defRPr>
            </a:lvl8pPr>
            <a:lvl9pPr>
              <a:defRPr sz="2325" b="1">
                <a:solidFill>
                  <a:srgbClr val="173D51"/>
                </a:solidFill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73D51"/>
                </a:solidFill>
              </a:defRPr>
            </a:pPr>
            <a:r>
              <a:rPr sz="2325" b="1">
                <a:solidFill>
                  <a:srgbClr val="173D51"/>
                </a:solidFill>
              </a:rPr>
              <a:t>A customer says “I paid.” The order still says “pending.”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1403645-9243-47F5-915D-379BB137AC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238625"/>
            <a:ext cx="100965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0">
                <a:solidFill>
                  <a:srgbClr val="506779"/>
                </a:solidFill>
              </a:defRPr>
            </a:defPPr>
            <a:lvl1pPr>
              <a:defRPr sz="1650" b="0">
                <a:solidFill>
                  <a:srgbClr val="506779"/>
                </a:solidFill>
              </a:defRPr>
            </a:lvl1pPr>
            <a:lvl2pPr>
              <a:defRPr sz="1650" b="0">
                <a:solidFill>
                  <a:srgbClr val="506779"/>
                </a:solidFill>
              </a:defRPr>
            </a:lvl2pPr>
            <a:lvl3pPr>
              <a:defRPr sz="1650" b="0">
                <a:solidFill>
                  <a:srgbClr val="506779"/>
                </a:solidFill>
              </a:defRPr>
            </a:lvl3pPr>
            <a:lvl4pPr>
              <a:defRPr sz="1650" b="0">
                <a:solidFill>
                  <a:srgbClr val="506779"/>
                </a:solidFill>
              </a:defRPr>
            </a:lvl4pPr>
            <a:lvl5pPr>
              <a:defRPr sz="1650" b="0">
                <a:solidFill>
                  <a:srgbClr val="506779"/>
                </a:solidFill>
              </a:defRPr>
            </a:lvl5pPr>
            <a:lvl6pPr>
              <a:defRPr sz="1650" b="0">
                <a:solidFill>
                  <a:srgbClr val="506779"/>
                </a:solidFill>
              </a:defRPr>
            </a:lvl6pPr>
            <a:lvl7pPr>
              <a:defRPr sz="1650" b="0">
                <a:solidFill>
                  <a:srgbClr val="506779"/>
                </a:solidFill>
              </a:defRPr>
            </a:lvl7pPr>
            <a:lvl8pPr>
              <a:defRPr sz="1650" b="0">
                <a:solidFill>
                  <a:srgbClr val="506779"/>
                </a:solidFill>
              </a:defRPr>
            </a:lvl8pPr>
            <a:lvl9pPr>
              <a:defRPr sz="1650" b="0">
                <a:solidFill>
                  <a:srgbClr val="506779"/>
                </a:solidFill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506779"/>
                </a:solidFill>
              </a:defRPr>
            </a:pPr>
            <a:r>
              <a:rPr sz="1650" b="0">
                <a:solidFill>
                  <a:srgbClr val="506779"/>
                </a:solidFill>
              </a:rPr>
              <a:t>Payment attempts, stock and customer messages may tell different stories. A merchant needs evidence before confirming an order or promising a refund.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BC3D5AA-D0F4-44C2-92FC-C75A50D229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353175"/>
            <a:ext cx="8572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0">
                <a:solidFill>
                  <a:srgbClr val="7C909B"/>
                </a:solidFill>
              </a:defRPr>
            </a:defPPr>
            <a:lvl1pPr>
              <a:defRPr sz="975" b="0">
                <a:solidFill>
                  <a:srgbClr val="7C909B"/>
                </a:solidFill>
              </a:defRPr>
            </a:lvl1pPr>
            <a:lvl2pPr>
              <a:defRPr sz="975" b="0">
                <a:solidFill>
                  <a:srgbClr val="7C909B"/>
                </a:solidFill>
              </a:defRPr>
            </a:lvl2pPr>
            <a:lvl3pPr>
              <a:defRPr sz="975" b="0">
                <a:solidFill>
                  <a:srgbClr val="7C909B"/>
                </a:solidFill>
              </a:defRPr>
            </a:lvl3pPr>
            <a:lvl4pPr>
              <a:defRPr sz="975" b="0">
                <a:solidFill>
                  <a:srgbClr val="7C909B"/>
                </a:solidFill>
              </a:defRPr>
            </a:lvl4pPr>
            <a:lvl5pPr>
              <a:defRPr sz="975" b="0">
                <a:solidFill>
                  <a:srgbClr val="7C909B"/>
                </a:solidFill>
              </a:defRPr>
            </a:lvl5pPr>
            <a:lvl6pPr>
              <a:defRPr sz="975" b="0">
                <a:solidFill>
                  <a:srgbClr val="7C909B"/>
                </a:solidFill>
              </a:defRPr>
            </a:lvl6pPr>
            <a:lvl7pPr>
              <a:defRPr sz="975" b="0">
                <a:solidFill>
                  <a:srgbClr val="7C909B"/>
                </a:solidFill>
              </a:defRPr>
            </a:lvl7pPr>
            <a:lvl8pPr>
              <a:defRPr sz="975" b="0">
                <a:solidFill>
                  <a:srgbClr val="7C909B"/>
                </a:solidFill>
              </a:defRPr>
            </a:lvl8pPr>
            <a:lvl9pPr>
              <a:defRPr sz="975" b="0">
                <a:solidFill>
                  <a:srgbClr val="7C909B"/>
                </a:solidFill>
              </a:defRPr>
            </a:lvl9pPr>
          </a:lstStyle>
          <a:p xmlns:a="http://schemas.openxmlformats.org/drawingml/2006/main">
            <a:pPr>
              <a:defRPr sz="975" b="0">
                <a:solidFill>
                  <a:srgbClr val="7C909B"/>
                </a:solidFill>
              </a:defRPr>
            </a:pPr>
            <a:r>
              <a:rPr sz="975" b="0">
                <a:solidFill>
                  <a:srgbClr val="7C909B"/>
                </a:solidFill>
              </a:rPr>
              <a:t>02   /   SYNTHETIC PROTOTYPE</a:t>
            </a:r>
          </a:p>
        </p:txBody>
      </p:sp>
    </p:spTree>
    <p:extLst>
      <p:ext uri="{BB962C8B-B14F-4D97-AF65-F5344CB8AC3E}">
        <p14:creationId xmlns:p14="http://schemas.microsoft.com/office/powerpoint/2010/main" val="786180316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7FA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2AC5A9B-DA60-4D45-B4C6-04804B2E65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57200"/>
            <a:ext cx="857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>
                <a:solidFill>
                  <a:srgbClr val="00828A"/>
                </a:solidFill>
              </a:defRPr>
            </a:defPPr>
            <a:lvl1pPr>
              <a:defRPr sz="1200" b="1">
                <a:solidFill>
                  <a:srgbClr val="00828A"/>
                </a:solidFill>
              </a:defRPr>
            </a:lvl1pPr>
            <a:lvl2pPr>
              <a:defRPr sz="1200" b="1">
                <a:solidFill>
                  <a:srgbClr val="00828A"/>
                </a:solidFill>
              </a:defRPr>
            </a:lvl2pPr>
            <a:lvl3pPr>
              <a:defRPr sz="1200" b="1">
                <a:solidFill>
                  <a:srgbClr val="00828A"/>
                </a:solidFill>
              </a:defRPr>
            </a:lvl3pPr>
            <a:lvl4pPr>
              <a:defRPr sz="1200" b="1">
                <a:solidFill>
                  <a:srgbClr val="00828A"/>
                </a:solidFill>
              </a:defRPr>
            </a:lvl4pPr>
            <a:lvl5pPr>
              <a:defRPr sz="1200" b="1">
                <a:solidFill>
                  <a:srgbClr val="00828A"/>
                </a:solidFill>
              </a:defRPr>
            </a:lvl5pPr>
            <a:lvl6pPr>
              <a:defRPr sz="1200" b="1">
                <a:solidFill>
                  <a:srgbClr val="00828A"/>
                </a:solidFill>
              </a:defRPr>
            </a:lvl6pPr>
            <a:lvl7pPr>
              <a:defRPr sz="1200" b="1">
                <a:solidFill>
                  <a:srgbClr val="00828A"/>
                </a:solidFill>
              </a:defRPr>
            </a:lvl7pPr>
            <a:lvl8pPr>
              <a:defRPr sz="1200" b="1">
                <a:solidFill>
                  <a:srgbClr val="00828A"/>
                </a:solidFill>
              </a:defRPr>
            </a:lvl8pPr>
            <a:lvl9pPr>
              <a:defRPr sz="1200" b="1">
                <a:solidFill>
                  <a:srgbClr val="00828A"/>
                </a:solidFill>
              </a:defRPr>
            </a:lvl9pPr>
          </a:lstStyle>
          <a:p xmlns:a="http://schemas.openxmlformats.org/drawingml/2006/main">
            <a:pPr>
              <a:defRPr sz="1200" b="1">
                <a:solidFill>
                  <a:srgbClr val="00828A"/>
                </a:solidFill>
              </a:defRPr>
            </a:pPr>
            <a:r>
              <a:rPr sz="1200" b="1">
                <a:solidFill>
                  <a:srgbClr val="00828A"/>
                </a:solidFill>
              </a:rPr>
              <a:t>VYAPAARSAATHI  /  TRACK 03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F297DBF-7D2C-4886-8DCF-FDD9B3A817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047750"/>
            <a:ext cx="10572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75" b="1">
                <a:solidFill>
                  <a:srgbClr val="102940"/>
                </a:solidFill>
              </a:defRPr>
            </a:defPPr>
            <a:lvl1pPr>
              <a:defRPr sz="3375" b="1">
                <a:solidFill>
                  <a:srgbClr val="102940"/>
                </a:solidFill>
              </a:defRPr>
            </a:lvl1pPr>
            <a:lvl2pPr>
              <a:defRPr sz="3375" b="1">
                <a:solidFill>
                  <a:srgbClr val="102940"/>
                </a:solidFill>
              </a:defRPr>
            </a:lvl2pPr>
            <a:lvl3pPr>
              <a:defRPr sz="3375" b="1">
                <a:solidFill>
                  <a:srgbClr val="102940"/>
                </a:solidFill>
              </a:defRPr>
            </a:lvl3pPr>
            <a:lvl4pPr>
              <a:defRPr sz="3375" b="1">
                <a:solidFill>
                  <a:srgbClr val="102940"/>
                </a:solidFill>
              </a:defRPr>
            </a:lvl4pPr>
            <a:lvl5pPr>
              <a:defRPr sz="3375" b="1">
                <a:solidFill>
                  <a:srgbClr val="102940"/>
                </a:solidFill>
              </a:defRPr>
            </a:lvl5pPr>
            <a:lvl6pPr>
              <a:defRPr sz="3375" b="1">
                <a:solidFill>
                  <a:srgbClr val="102940"/>
                </a:solidFill>
              </a:defRPr>
            </a:lvl6pPr>
            <a:lvl7pPr>
              <a:defRPr sz="3375" b="1">
                <a:solidFill>
                  <a:srgbClr val="102940"/>
                </a:solidFill>
              </a:defRPr>
            </a:lvl7pPr>
            <a:lvl8pPr>
              <a:defRPr sz="3375" b="1">
                <a:solidFill>
                  <a:srgbClr val="102940"/>
                </a:solidFill>
              </a:defRPr>
            </a:lvl8pPr>
            <a:lvl9pPr>
              <a:defRPr sz="3375" b="1">
                <a:solidFill>
                  <a:srgbClr val="102940"/>
                </a:solidFill>
              </a:defRPr>
            </a:lvl9pPr>
          </a:lstStyle>
          <a:p xmlns:a="http://schemas.openxmlformats.org/drawingml/2006/main">
            <a:pPr>
              <a:defRPr sz="3375" b="1">
                <a:solidFill>
                  <a:srgbClr val="102940"/>
                </a:solidFill>
              </a:defRPr>
            </a:pPr>
            <a:r>
              <a:rPr sz="3375" b="1">
                <a:solidFill>
                  <a:srgbClr val="102940"/>
                </a:solidFill>
              </a:rPr>
              <a:t>The proposed solution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F3C46FC-47A7-423E-9979-60C2A95879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333625"/>
            <a:ext cx="102870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325" b="1">
                <a:solidFill>
                  <a:srgbClr val="173D51"/>
                </a:solidFill>
              </a:defRPr>
            </a:defPPr>
            <a:lvl1pPr>
              <a:defRPr sz="2325" b="1">
                <a:solidFill>
                  <a:srgbClr val="173D51"/>
                </a:solidFill>
              </a:defRPr>
            </a:lvl1pPr>
            <a:lvl2pPr>
              <a:defRPr sz="2325" b="1">
                <a:solidFill>
                  <a:srgbClr val="173D51"/>
                </a:solidFill>
              </a:defRPr>
            </a:lvl2pPr>
            <a:lvl3pPr>
              <a:defRPr sz="2325" b="1">
                <a:solidFill>
                  <a:srgbClr val="173D51"/>
                </a:solidFill>
              </a:defRPr>
            </a:lvl3pPr>
            <a:lvl4pPr>
              <a:defRPr sz="2325" b="1">
                <a:solidFill>
                  <a:srgbClr val="173D51"/>
                </a:solidFill>
              </a:defRPr>
            </a:lvl4pPr>
            <a:lvl5pPr>
              <a:defRPr sz="2325" b="1">
                <a:solidFill>
                  <a:srgbClr val="173D51"/>
                </a:solidFill>
              </a:defRPr>
            </a:lvl5pPr>
            <a:lvl6pPr>
              <a:defRPr sz="2325" b="1">
                <a:solidFill>
                  <a:srgbClr val="173D51"/>
                </a:solidFill>
              </a:defRPr>
            </a:lvl6pPr>
            <a:lvl7pPr>
              <a:defRPr sz="2325" b="1">
                <a:solidFill>
                  <a:srgbClr val="173D51"/>
                </a:solidFill>
              </a:defRPr>
            </a:lvl7pPr>
            <a:lvl8pPr>
              <a:defRPr sz="2325" b="1">
                <a:solidFill>
                  <a:srgbClr val="173D51"/>
                </a:solidFill>
              </a:defRPr>
            </a:lvl8pPr>
            <a:lvl9pPr>
              <a:defRPr sz="2325" b="1">
                <a:solidFill>
                  <a:srgbClr val="173D51"/>
                </a:solidFill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73D51"/>
                </a:solidFill>
              </a:defRPr>
            </a:pPr>
            <a:r>
              <a:rPr sz="2325" b="1">
                <a:solidFill>
                  <a:srgbClr val="173D51"/>
                </a:solidFill>
              </a:rPr>
              <a:t>A case desk that checks before it acts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9B50A54-C777-4317-BE14-D41274A130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238625"/>
            <a:ext cx="100965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0">
                <a:solidFill>
                  <a:srgbClr val="506779"/>
                </a:solidFill>
              </a:defRPr>
            </a:defPPr>
            <a:lvl1pPr>
              <a:defRPr sz="1650" b="0">
                <a:solidFill>
                  <a:srgbClr val="506779"/>
                </a:solidFill>
              </a:defRPr>
            </a:lvl1pPr>
            <a:lvl2pPr>
              <a:defRPr sz="1650" b="0">
                <a:solidFill>
                  <a:srgbClr val="506779"/>
                </a:solidFill>
              </a:defRPr>
            </a:lvl2pPr>
            <a:lvl3pPr>
              <a:defRPr sz="1650" b="0">
                <a:solidFill>
                  <a:srgbClr val="506779"/>
                </a:solidFill>
              </a:defRPr>
            </a:lvl3pPr>
            <a:lvl4pPr>
              <a:defRPr sz="1650" b="0">
                <a:solidFill>
                  <a:srgbClr val="506779"/>
                </a:solidFill>
              </a:defRPr>
            </a:lvl4pPr>
            <a:lvl5pPr>
              <a:defRPr sz="1650" b="0">
                <a:solidFill>
                  <a:srgbClr val="506779"/>
                </a:solidFill>
              </a:defRPr>
            </a:lvl5pPr>
            <a:lvl6pPr>
              <a:defRPr sz="1650" b="0">
                <a:solidFill>
                  <a:srgbClr val="506779"/>
                </a:solidFill>
              </a:defRPr>
            </a:lvl6pPr>
            <a:lvl7pPr>
              <a:defRPr sz="1650" b="0">
                <a:solidFill>
                  <a:srgbClr val="506779"/>
                </a:solidFill>
              </a:defRPr>
            </a:lvl7pPr>
            <a:lvl8pPr>
              <a:defRPr sz="1650" b="0">
                <a:solidFill>
                  <a:srgbClr val="506779"/>
                </a:solidFill>
              </a:defRPr>
            </a:lvl8pPr>
            <a:lvl9pPr>
              <a:defRPr sz="1650" b="0">
                <a:solidFill>
                  <a:srgbClr val="506779"/>
                </a:solidFill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506779"/>
                </a:solidFill>
              </a:defRPr>
            </a:pPr>
            <a:r>
              <a:rPr sz="1650" b="0">
                <a:solidFill>
                  <a:srgbClr val="506779"/>
                </a:solidFill>
              </a:rPr>
              <a:t>The prototype links a quote, order, payment attempts, inventory and service record. It explains its next step and asks the merchant when a decision needs approval.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001DF40-175C-45AB-8A4B-3F8893B0DA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353175"/>
            <a:ext cx="8572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0">
                <a:solidFill>
                  <a:srgbClr val="7C909B"/>
                </a:solidFill>
              </a:defRPr>
            </a:defPPr>
            <a:lvl1pPr>
              <a:defRPr sz="975" b="0">
                <a:solidFill>
                  <a:srgbClr val="7C909B"/>
                </a:solidFill>
              </a:defRPr>
            </a:lvl1pPr>
            <a:lvl2pPr>
              <a:defRPr sz="975" b="0">
                <a:solidFill>
                  <a:srgbClr val="7C909B"/>
                </a:solidFill>
              </a:defRPr>
            </a:lvl2pPr>
            <a:lvl3pPr>
              <a:defRPr sz="975" b="0">
                <a:solidFill>
                  <a:srgbClr val="7C909B"/>
                </a:solidFill>
              </a:defRPr>
            </a:lvl3pPr>
            <a:lvl4pPr>
              <a:defRPr sz="975" b="0">
                <a:solidFill>
                  <a:srgbClr val="7C909B"/>
                </a:solidFill>
              </a:defRPr>
            </a:lvl4pPr>
            <a:lvl5pPr>
              <a:defRPr sz="975" b="0">
                <a:solidFill>
                  <a:srgbClr val="7C909B"/>
                </a:solidFill>
              </a:defRPr>
            </a:lvl5pPr>
            <a:lvl6pPr>
              <a:defRPr sz="975" b="0">
                <a:solidFill>
                  <a:srgbClr val="7C909B"/>
                </a:solidFill>
              </a:defRPr>
            </a:lvl6pPr>
            <a:lvl7pPr>
              <a:defRPr sz="975" b="0">
                <a:solidFill>
                  <a:srgbClr val="7C909B"/>
                </a:solidFill>
              </a:defRPr>
            </a:lvl7pPr>
            <a:lvl8pPr>
              <a:defRPr sz="975" b="0">
                <a:solidFill>
                  <a:srgbClr val="7C909B"/>
                </a:solidFill>
              </a:defRPr>
            </a:lvl8pPr>
            <a:lvl9pPr>
              <a:defRPr sz="975" b="0">
                <a:solidFill>
                  <a:srgbClr val="7C909B"/>
                </a:solidFill>
              </a:defRPr>
            </a:lvl9pPr>
          </a:lstStyle>
          <a:p xmlns:a="http://schemas.openxmlformats.org/drawingml/2006/main">
            <a:pPr>
              <a:defRPr sz="975" b="0">
                <a:solidFill>
                  <a:srgbClr val="7C909B"/>
                </a:solidFill>
              </a:defRPr>
            </a:pPr>
            <a:r>
              <a:rPr sz="975" b="0">
                <a:solidFill>
                  <a:srgbClr val="7C909B"/>
                </a:solidFill>
              </a:rPr>
              <a:t>03   /   SYNTHETIC PROTOTYPE</a:t>
            </a:r>
          </a:p>
        </p:txBody>
      </p:sp>
    </p:spTree>
    <p:extLst>
      <p:ext uri="{BB962C8B-B14F-4D97-AF65-F5344CB8AC3E}">
        <p14:creationId xmlns:p14="http://schemas.microsoft.com/office/powerpoint/2010/main" val="1111217920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7FA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22CDF2F-9F13-40C4-91DD-F19D3CB8BF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57200"/>
            <a:ext cx="857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>
                <a:solidFill>
                  <a:srgbClr val="00828A"/>
                </a:solidFill>
              </a:defRPr>
            </a:defPPr>
            <a:lvl1pPr>
              <a:defRPr sz="1200" b="1">
                <a:solidFill>
                  <a:srgbClr val="00828A"/>
                </a:solidFill>
              </a:defRPr>
            </a:lvl1pPr>
            <a:lvl2pPr>
              <a:defRPr sz="1200" b="1">
                <a:solidFill>
                  <a:srgbClr val="00828A"/>
                </a:solidFill>
              </a:defRPr>
            </a:lvl2pPr>
            <a:lvl3pPr>
              <a:defRPr sz="1200" b="1">
                <a:solidFill>
                  <a:srgbClr val="00828A"/>
                </a:solidFill>
              </a:defRPr>
            </a:lvl3pPr>
            <a:lvl4pPr>
              <a:defRPr sz="1200" b="1">
                <a:solidFill>
                  <a:srgbClr val="00828A"/>
                </a:solidFill>
              </a:defRPr>
            </a:lvl4pPr>
            <a:lvl5pPr>
              <a:defRPr sz="1200" b="1">
                <a:solidFill>
                  <a:srgbClr val="00828A"/>
                </a:solidFill>
              </a:defRPr>
            </a:lvl5pPr>
            <a:lvl6pPr>
              <a:defRPr sz="1200" b="1">
                <a:solidFill>
                  <a:srgbClr val="00828A"/>
                </a:solidFill>
              </a:defRPr>
            </a:lvl6pPr>
            <a:lvl7pPr>
              <a:defRPr sz="1200" b="1">
                <a:solidFill>
                  <a:srgbClr val="00828A"/>
                </a:solidFill>
              </a:defRPr>
            </a:lvl7pPr>
            <a:lvl8pPr>
              <a:defRPr sz="1200" b="1">
                <a:solidFill>
                  <a:srgbClr val="00828A"/>
                </a:solidFill>
              </a:defRPr>
            </a:lvl8pPr>
            <a:lvl9pPr>
              <a:defRPr sz="1200" b="1">
                <a:solidFill>
                  <a:srgbClr val="00828A"/>
                </a:solidFill>
              </a:defRPr>
            </a:lvl9pPr>
          </a:lstStyle>
          <a:p xmlns:a="http://schemas.openxmlformats.org/drawingml/2006/main">
            <a:pPr>
              <a:defRPr sz="1200" b="1">
                <a:solidFill>
                  <a:srgbClr val="00828A"/>
                </a:solidFill>
              </a:defRPr>
            </a:pPr>
            <a:r>
              <a:rPr sz="1200" b="1">
                <a:solidFill>
                  <a:srgbClr val="00828A"/>
                </a:solidFill>
              </a:rPr>
              <a:t>VYAPAARSAATHI  /  TRACK 03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6B036AE-ED3B-453E-BE56-DA4076848C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047750"/>
            <a:ext cx="10572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75" b="1">
                <a:solidFill>
                  <a:srgbClr val="102940"/>
                </a:solidFill>
              </a:defRPr>
            </a:defPPr>
            <a:lvl1pPr>
              <a:defRPr sz="3375" b="1">
                <a:solidFill>
                  <a:srgbClr val="102940"/>
                </a:solidFill>
              </a:defRPr>
            </a:lvl1pPr>
            <a:lvl2pPr>
              <a:defRPr sz="3375" b="1">
                <a:solidFill>
                  <a:srgbClr val="102940"/>
                </a:solidFill>
              </a:defRPr>
            </a:lvl2pPr>
            <a:lvl3pPr>
              <a:defRPr sz="3375" b="1">
                <a:solidFill>
                  <a:srgbClr val="102940"/>
                </a:solidFill>
              </a:defRPr>
            </a:lvl3pPr>
            <a:lvl4pPr>
              <a:defRPr sz="3375" b="1">
                <a:solidFill>
                  <a:srgbClr val="102940"/>
                </a:solidFill>
              </a:defRPr>
            </a:lvl4pPr>
            <a:lvl5pPr>
              <a:defRPr sz="3375" b="1">
                <a:solidFill>
                  <a:srgbClr val="102940"/>
                </a:solidFill>
              </a:defRPr>
            </a:lvl5pPr>
            <a:lvl6pPr>
              <a:defRPr sz="3375" b="1">
                <a:solidFill>
                  <a:srgbClr val="102940"/>
                </a:solidFill>
              </a:defRPr>
            </a:lvl6pPr>
            <a:lvl7pPr>
              <a:defRPr sz="3375" b="1">
                <a:solidFill>
                  <a:srgbClr val="102940"/>
                </a:solidFill>
              </a:defRPr>
            </a:lvl7pPr>
            <a:lvl8pPr>
              <a:defRPr sz="3375" b="1">
                <a:solidFill>
                  <a:srgbClr val="102940"/>
                </a:solidFill>
              </a:defRPr>
            </a:lvl8pPr>
            <a:lvl9pPr>
              <a:defRPr sz="3375" b="1">
                <a:solidFill>
                  <a:srgbClr val="102940"/>
                </a:solidFill>
              </a:defRPr>
            </a:lvl9pPr>
          </a:lstStyle>
          <a:p xmlns:a="http://schemas.openxmlformats.org/drawingml/2006/main">
            <a:pPr>
              <a:defRPr sz="3375" b="1">
                <a:solidFill>
                  <a:srgbClr val="102940"/>
                </a:solidFill>
              </a:defRPr>
            </a:pPr>
            <a:r>
              <a:rPr sz="3375" b="1">
                <a:solidFill>
                  <a:srgbClr val="102940"/>
                </a:solidFill>
              </a:rPr>
              <a:t>A connected journey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7B2F287-3159-44E4-89B7-88D290895D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333625"/>
            <a:ext cx="102870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325" b="1">
                <a:solidFill>
                  <a:srgbClr val="173D51"/>
                </a:solidFill>
              </a:defRPr>
            </a:defPPr>
            <a:lvl1pPr>
              <a:defRPr sz="2325" b="1">
                <a:solidFill>
                  <a:srgbClr val="173D51"/>
                </a:solidFill>
              </a:defRPr>
            </a:lvl1pPr>
            <a:lvl2pPr>
              <a:defRPr sz="2325" b="1">
                <a:solidFill>
                  <a:srgbClr val="173D51"/>
                </a:solidFill>
              </a:defRPr>
            </a:lvl2pPr>
            <a:lvl3pPr>
              <a:defRPr sz="2325" b="1">
                <a:solidFill>
                  <a:srgbClr val="173D51"/>
                </a:solidFill>
              </a:defRPr>
            </a:lvl3pPr>
            <a:lvl4pPr>
              <a:defRPr sz="2325" b="1">
                <a:solidFill>
                  <a:srgbClr val="173D51"/>
                </a:solidFill>
              </a:defRPr>
            </a:lvl4pPr>
            <a:lvl5pPr>
              <a:defRPr sz="2325" b="1">
                <a:solidFill>
                  <a:srgbClr val="173D51"/>
                </a:solidFill>
              </a:defRPr>
            </a:lvl5pPr>
            <a:lvl6pPr>
              <a:defRPr sz="2325" b="1">
                <a:solidFill>
                  <a:srgbClr val="173D51"/>
                </a:solidFill>
              </a:defRPr>
            </a:lvl6pPr>
            <a:lvl7pPr>
              <a:defRPr sz="2325" b="1">
                <a:solidFill>
                  <a:srgbClr val="173D51"/>
                </a:solidFill>
              </a:defRPr>
            </a:lvl7pPr>
            <a:lvl8pPr>
              <a:defRPr sz="2325" b="1">
                <a:solidFill>
                  <a:srgbClr val="173D51"/>
                </a:solidFill>
              </a:defRPr>
            </a:lvl8pPr>
            <a:lvl9pPr>
              <a:defRPr sz="2325" b="1">
                <a:solidFill>
                  <a:srgbClr val="173D51"/>
                </a:solidFill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73D51"/>
                </a:solidFill>
              </a:defRPr>
            </a:pPr>
            <a:r>
              <a:rPr sz="2325" b="1">
                <a:solidFill>
                  <a:srgbClr val="173D51"/>
                </a:solidFill>
              </a:rPr>
              <a:t>Enquiry and approved quote</a:t>
            </a:r>
          </a:p>
          <a:p xmlns:a="http://schemas.openxmlformats.org/drawingml/2006/main">
            <a:pPr>
              <a:defRPr sz="2325" b="1">
                <a:solidFill>
                  <a:srgbClr val="173D51"/>
                </a:solidFill>
              </a:defRPr>
            </a:pPr>
            <a:r>
              <a:rPr sz="2325" b="1">
                <a:solidFill>
                  <a:srgbClr val="173D51"/>
                </a:solidFill>
              </a:rPr>
              <a:t>Payment-to-order recovery</a:t>
            </a:r>
          </a:p>
          <a:p xmlns:a="http://schemas.openxmlformats.org/drawingml/2006/main">
            <a:pPr>
              <a:defRPr sz="2325" b="1">
                <a:solidFill>
                  <a:srgbClr val="173D51"/>
                </a:solidFill>
              </a:defRPr>
            </a:pPr>
            <a:r>
              <a:rPr sz="2325" b="1">
                <a:solidFill>
                  <a:srgbClr val="173D51"/>
                </a:solidFill>
              </a:rPr>
              <a:t>Warranty and service request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A9D3504-D6B3-41F8-B141-19F19CA2CF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238625"/>
            <a:ext cx="100965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0">
                <a:solidFill>
                  <a:srgbClr val="506779"/>
                </a:solidFill>
              </a:defRPr>
            </a:defPPr>
            <a:lvl1pPr>
              <a:defRPr sz="1650" b="0">
                <a:solidFill>
                  <a:srgbClr val="506779"/>
                </a:solidFill>
              </a:defRPr>
            </a:lvl1pPr>
            <a:lvl2pPr>
              <a:defRPr sz="1650" b="0">
                <a:solidFill>
                  <a:srgbClr val="506779"/>
                </a:solidFill>
              </a:defRPr>
            </a:lvl2pPr>
            <a:lvl3pPr>
              <a:defRPr sz="1650" b="0">
                <a:solidFill>
                  <a:srgbClr val="506779"/>
                </a:solidFill>
              </a:defRPr>
            </a:lvl3pPr>
            <a:lvl4pPr>
              <a:defRPr sz="1650" b="0">
                <a:solidFill>
                  <a:srgbClr val="506779"/>
                </a:solidFill>
              </a:defRPr>
            </a:lvl4pPr>
            <a:lvl5pPr>
              <a:defRPr sz="1650" b="0">
                <a:solidFill>
                  <a:srgbClr val="506779"/>
                </a:solidFill>
              </a:defRPr>
            </a:lvl5pPr>
            <a:lvl6pPr>
              <a:defRPr sz="1650" b="0">
                <a:solidFill>
                  <a:srgbClr val="506779"/>
                </a:solidFill>
              </a:defRPr>
            </a:lvl6pPr>
            <a:lvl7pPr>
              <a:defRPr sz="1650" b="0">
                <a:solidFill>
                  <a:srgbClr val="506779"/>
                </a:solidFill>
              </a:defRPr>
            </a:lvl7pPr>
            <a:lvl8pPr>
              <a:defRPr sz="1650" b="0">
                <a:solidFill>
                  <a:srgbClr val="506779"/>
                </a:solidFill>
              </a:defRPr>
            </a:lvl8pPr>
            <a:lvl9pPr>
              <a:defRPr sz="1650" b="0">
                <a:solidFill>
                  <a:srgbClr val="506779"/>
                </a:solidFill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506779"/>
                </a:solidFill>
              </a:defRPr>
            </a:pPr>
            <a:r>
              <a:rPr sz="1650" b="0">
                <a:solidFill>
                  <a:srgbClr val="506779"/>
                </a:solidFill>
              </a:rPr>
              <a:t>In the public simulation, an approved quote creates an order; simulated capture and delivery enable a warranty request and technician booking. All records are fictional.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35D9532-1094-45AE-BAA1-EAAFA6A31F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353175"/>
            <a:ext cx="8572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0">
                <a:solidFill>
                  <a:srgbClr val="7C909B"/>
                </a:solidFill>
              </a:defRPr>
            </a:defPPr>
            <a:lvl1pPr>
              <a:defRPr sz="975" b="0">
                <a:solidFill>
                  <a:srgbClr val="7C909B"/>
                </a:solidFill>
              </a:defRPr>
            </a:lvl1pPr>
            <a:lvl2pPr>
              <a:defRPr sz="975" b="0">
                <a:solidFill>
                  <a:srgbClr val="7C909B"/>
                </a:solidFill>
              </a:defRPr>
            </a:lvl2pPr>
            <a:lvl3pPr>
              <a:defRPr sz="975" b="0">
                <a:solidFill>
                  <a:srgbClr val="7C909B"/>
                </a:solidFill>
              </a:defRPr>
            </a:lvl3pPr>
            <a:lvl4pPr>
              <a:defRPr sz="975" b="0">
                <a:solidFill>
                  <a:srgbClr val="7C909B"/>
                </a:solidFill>
              </a:defRPr>
            </a:lvl4pPr>
            <a:lvl5pPr>
              <a:defRPr sz="975" b="0">
                <a:solidFill>
                  <a:srgbClr val="7C909B"/>
                </a:solidFill>
              </a:defRPr>
            </a:lvl5pPr>
            <a:lvl6pPr>
              <a:defRPr sz="975" b="0">
                <a:solidFill>
                  <a:srgbClr val="7C909B"/>
                </a:solidFill>
              </a:defRPr>
            </a:lvl6pPr>
            <a:lvl7pPr>
              <a:defRPr sz="975" b="0">
                <a:solidFill>
                  <a:srgbClr val="7C909B"/>
                </a:solidFill>
              </a:defRPr>
            </a:lvl7pPr>
            <a:lvl8pPr>
              <a:defRPr sz="975" b="0">
                <a:solidFill>
                  <a:srgbClr val="7C909B"/>
                </a:solidFill>
              </a:defRPr>
            </a:lvl8pPr>
            <a:lvl9pPr>
              <a:defRPr sz="975" b="0">
                <a:solidFill>
                  <a:srgbClr val="7C909B"/>
                </a:solidFill>
              </a:defRPr>
            </a:lvl9pPr>
          </a:lstStyle>
          <a:p xmlns:a="http://schemas.openxmlformats.org/drawingml/2006/main">
            <a:pPr>
              <a:defRPr sz="975" b="0">
                <a:solidFill>
                  <a:srgbClr val="7C909B"/>
                </a:solidFill>
              </a:defRPr>
            </a:pPr>
            <a:r>
              <a:rPr sz="975" b="0">
                <a:solidFill>
                  <a:srgbClr val="7C909B"/>
                </a:solidFill>
              </a:rPr>
              <a:t>04   /   SYNTHETIC PROTOTYPE</a:t>
            </a:r>
          </a:p>
        </p:txBody>
      </p:sp>
    </p:spTree>
    <p:extLst>
      <p:ext uri="{BB962C8B-B14F-4D97-AF65-F5344CB8AC3E}">
        <p14:creationId xmlns:p14="http://schemas.microsoft.com/office/powerpoint/2010/main" val="353381107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7FA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F8D962D-31CD-415B-8539-D37160247E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57200"/>
            <a:ext cx="857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>
                <a:solidFill>
                  <a:srgbClr val="00828A"/>
                </a:solidFill>
              </a:defRPr>
            </a:defPPr>
            <a:lvl1pPr>
              <a:defRPr sz="1200" b="1">
                <a:solidFill>
                  <a:srgbClr val="00828A"/>
                </a:solidFill>
              </a:defRPr>
            </a:lvl1pPr>
            <a:lvl2pPr>
              <a:defRPr sz="1200" b="1">
                <a:solidFill>
                  <a:srgbClr val="00828A"/>
                </a:solidFill>
              </a:defRPr>
            </a:lvl2pPr>
            <a:lvl3pPr>
              <a:defRPr sz="1200" b="1">
                <a:solidFill>
                  <a:srgbClr val="00828A"/>
                </a:solidFill>
              </a:defRPr>
            </a:lvl3pPr>
            <a:lvl4pPr>
              <a:defRPr sz="1200" b="1">
                <a:solidFill>
                  <a:srgbClr val="00828A"/>
                </a:solidFill>
              </a:defRPr>
            </a:lvl4pPr>
            <a:lvl5pPr>
              <a:defRPr sz="1200" b="1">
                <a:solidFill>
                  <a:srgbClr val="00828A"/>
                </a:solidFill>
              </a:defRPr>
            </a:lvl5pPr>
            <a:lvl6pPr>
              <a:defRPr sz="1200" b="1">
                <a:solidFill>
                  <a:srgbClr val="00828A"/>
                </a:solidFill>
              </a:defRPr>
            </a:lvl6pPr>
            <a:lvl7pPr>
              <a:defRPr sz="1200" b="1">
                <a:solidFill>
                  <a:srgbClr val="00828A"/>
                </a:solidFill>
              </a:defRPr>
            </a:lvl7pPr>
            <a:lvl8pPr>
              <a:defRPr sz="1200" b="1">
                <a:solidFill>
                  <a:srgbClr val="00828A"/>
                </a:solidFill>
              </a:defRPr>
            </a:lvl8pPr>
            <a:lvl9pPr>
              <a:defRPr sz="1200" b="1">
                <a:solidFill>
                  <a:srgbClr val="00828A"/>
                </a:solidFill>
              </a:defRPr>
            </a:lvl9pPr>
          </a:lstStyle>
          <a:p xmlns:a="http://schemas.openxmlformats.org/drawingml/2006/main">
            <a:pPr>
              <a:defRPr sz="1200" b="1">
                <a:solidFill>
                  <a:srgbClr val="00828A"/>
                </a:solidFill>
              </a:defRPr>
            </a:pPr>
            <a:r>
              <a:rPr sz="1200" b="1">
                <a:solidFill>
                  <a:srgbClr val="00828A"/>
                </a:solidFill>
              </a:rPr>
              <a:t>VYAPAARSAATHI  /  TRACK 03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07DFBA1-15A1-4028-90AF-CB9EBF340A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047750"/>
            <a:ext cx="10572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75" b="1">
                <a:solidFill>
                  <a:srgbClr val="102940"/>
                </a:solidFill>
              </a:defRPr>
            </a:defPPr>
            <a:lvl1pPr>
              <a:defRPr sz="3375" b="1">
                <a:solidFill>
                  <a:srgbClr val="102940"/>
                </a:solidFill>
              </a:defRPr>
            </a:lvl1pPr>
            <a:lvl2pPr>
              <a:defRPr sz="3375" b="1">
                <a:solidFill>
                  <a:srgbClr val="102940"/>
                </a:solidFill>
              </a:defRPr>
            </a:lvl2pPr>
            <a:lvl3pPr>
              <a:defRPr sz="3375" b="1">
                <a:solidFill>
                  <a:srgbClr val="102940"/>
                </a:solidFill>
              </a:defRPr>
            </a:lvl3pPr>
            <a:lvl4pPr>
              <a:defRPr sz="3375" b="1">
                <a:solidFill>
                  <a:srgbClr val="102940"/>
                </a:solidFill>
              </a:defRPr>
            </a:lvl4pPr>
            <a:lvl5pPr>
              <a:defRPr sz="3375" b="1">
                <a:solidFill>
                  <a:srgbClr val="102940"/>
                </a:solidFill>
              </a:defRPr>
            </a:lvl5pPr>
            <a:lvl6pPr>
              <a:defRPr sz="3375" b="1">
                <a:solidFill>
                  <a:srgbClr val="102940"/>
                </a:solidFill>
              </a:defRPr>
            </a:lvl6pPr>
            <a:lvl7pPr>
              <a:defRPr sz="3375" b="1">
                <a:solidFill>
                  <a:srgbClr val="102940"/>
                </a:solidFill>
              </a:defRPr>
            </a:lvl7pPr>
            <a:lvl8pPr>
              <a:defRPr sz="3375" b="1">
                <a:solidFill>
                  <a:srgbClr val="102940"/>
                </a:solidFill>
              </a:defRPr>
            </a:lvl8pPr>
            <a:lvl9pPr>
              <a:defRPr sz="3375" b="1">
                <a:solidFill>
                  <a:srgbClr val="102940"/>
                </a:solidFill>
              </a:defRPr>
            </a:lvl9pPr>
          </a:lstStyle>
          <a:p xmlns:a="http://schemas.openxmlformats.org/drawingml/2006/main">
            <a:pPr>
              <a:defRPr sz="3375" b="1">
                <a:solidFill>
                  <a:srgbClr val="102940"/>
                </a:solidFill>
              </a:defRPr>
            </a:pPr>
            <a:r>
              <a:rPr sz="3375" b="1">
                <a:solidFill>
                  <a:srgbClr val="102940"/>
                </a:solidFill>
              </a:rPr>
              <a:t>What the demo covers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6A98861-5C50-4AA9-8911-71C22FF059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333625"/>
            <a:ext cx="102870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325" b="1">
                <a:solidFill>
                  <a:srgbClr val="173D51"/>
                </a:solidFill>
              </a:defRPr>
            </a:defPPr>
            <a:lvl1pPr>
              <a:defRPr sz="2325" b="1">
                <a:solidFill>
                  <a:srgbClr val="173D51"/>
                </a:solidFill>
              </a:defRPr>
            </a:lvl1pPr>
            <a:lvl2pPr>
              <a:defRPr sz="2325" b="1">
                <a:solidFill>
                  <a:srgbClr val="173D51"/>
                </a:solidFill>
              </a:defRPr>
            </a:lvl2pPr>
            <a:lvl3pPr>
              <a:defRPr sz="2325" b="1">
                <a:solidFill>
                  <a:srgbClr val="173D51"/>
                </a:solidFill>
              </a:defRPr>
            </a:lvl3pPr>
            <a:lvl4pPr>
              <a:defRPr sz="2325" b="1">
                <a:solidFill>
                  <a:srgbClr val="173D51"/>
                </a:solidFill>
              </a:defRPr>
            </a:lvl4pPr>
            <a:lvl5pPr>
              <a:defRPr sz="2325" b="1">
                <a:solidFill>
                  <a:srgbClr val="173D51"/>
                </a:solidFill>
              </a:defRPr>
            </a:lvl5pPr>
            <a:lvl6pPr>
              <a:defRPr sz="2325" b="1">
                <a:solidFill>
                  <a:srgbClr val="173D51"/>
                </a:solidFill>
              </a:defRPr>
            </a:lvl6pPr>
            <a:lvl7pPr>
              <a:defRPr sz="2325" b="1">
                <a:solidFill>
                  <a:srgbClr val="173D51"/>
                </a:solidFill>
              </a:defRPr>
            </a:lvl7pPr>
            <a:lvl8pPr>
              <a:defRPr sz="2325" b="1">
                <a:solidFill>
                  <a:srgbClr val="173D51"/>
                </a:solidFill>
              </a:defRPr>
            </a:lvl8pPr>
            <a:lvl9pPr>
              <a:defRPr sz="2325" b="1">
                <a:solidFill>
                  <a:srgbClr val="173D51"/>
                </a:solidFill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73D51"/>
                </a:solidFill>
              </a:defRPr>
            </a:pPr>
            <a:r>
              <a:rPr sz="2325" b="1">
                <a:solidFill>
                  <a:srgbClr val="173D51"/>
                </a:solidFill>
              </a:rPr>
              <a:t>Late payment · duplicate attempts · timeout</a:t>
            </a:r>
          </a:p>
          <a:p xmlns:a="http://schemas.openxmlformats.org/drawingml/2006/main">
            <a:pPr>
              <a:defRPr sz="2325" b="1">
                <a:solidFill>
                  <a:srgbClr val="173D51"/>
                </a:solidFill>
              </a:defRPr>
            </a:pPr>
            <a:r>
              <a:rPr sz="2325" b="1">
                <a:solidFill>
                  <a:srgbClr val="173D51"/>
                </a:solidFill>
              </a:rPr>
              <a:t>Pending status · stock conflict · missing record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D57D701-BEBA-4DAC-AECB-0E23AC1AD8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238625"/>
            <a:ext cx="100965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0">
                <a:solidFill>
                  <a:srgbClr val="506779"/>
                </a:solidFill>
              </a:defRPr>
            </a:defPPr>
            <a:lvl1pPr>
              <a:defRPr sz="1650" b="0">
                <a:solidFill>
                  <a:srgbClr val="506779"/>
                </a:solidFill>
              </a:defRPr>
            </a:lvl1pPr>
            <a:lvl2pPr>
              <a:defRPr sz="1650" b="0">
                <a:solidFill>
                  <a:srgbClr val="506779"/>
                </a:solidFill>
              </a:defRPr>
            </a:lvl2pPr>
            <a:lvl3pPr>
              <a:defRPr sz="1650" b="0">
                <a:solidFill>
                  <a:srgbClr val="506779"/>
                </a:solidFill>
              </a:defRPr>
            </a:lvl3pPr>
            <a:lvl4pPr>
              <a:defRPr sz="1650" b="0">
                <a:solidFill>
                  <a:srgbClr val="506779"/>
                </a:solidFill>
              </a:defRPr>
            </a:lvl4pPr>
            <a:lvl5pPr>
              <a:defRPr sz="1650" b="0">
                <a:solidFill>
                  <a:srgbClr val="506779"/>
                </a:solidFill>
              </a:defRPr>
            </a:lvl5pPr>
            <a:lvl6pPr>
              <a:defRPr sz="1650" b="0">
                <a:solidFill>
                  <a:srgbClr val="506779"/>
                </a:solidFill>
              </a:defRPr>
            </a:lvl6pPr>
            <a:lvl7pPr>
              <a:defRPr sz="1650" b="0">
                <a:solidFill>
                  <a:srgbClr val="506779"/>
                </a:solidFill>
              </a:defRPr>
            </a:lvl7pPr>
            <a:lvl8pPr>
              <a:defRPr sz="1650" b="0">
                <a:solidFill>
                  <a:srgbClr val="506779"/>
                </a:solidFill>
              </a:defRPr>
            </a:lvl8pPr>
            <a:lvl9pPr>
              <a:defRPr sz="1650" b="0">
                <a:solidFill>
                  <a:srgbClr val="506779"/>
                </a:solidFill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506779"/>
                </a:solidFill>
              </a:defRPr>
            </a:pPr>
            <a:r>
              <a:rPr sz="1650" b="0">
                <a:solidFill>
                  <a:srgbClr val="506779"/>
                </a:solidFill>
              </a:rPr>
              <a:t>The teammate distinguishes refund initiated from customer credit. It groups repeat messages and escalates incomplete evidence.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F688A46-DEF5-4C12-BC66-799518F67F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353175"/>
            <a:ext cx="8572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0">
                <a:solidFill>
                  <a:srgbClr val="7C909B"/>
                </a:solidFill>
              </a:defRPr>
            </a:defPPr>
            <a:lvl1pPr>
              <a:defRPr sz="975" b="0">
                <a:solidFill>
                  <a:srgbClr val="7C909B"/>
                </a:solidFill>
              </a:defRPr>
            </a:lvl1pPr>
            <a:lvl2pPr>
              <a:defRPr sz="975" b="0">
                <a:solidFill>
                  <a:srgbClr val="7C909B"/>
                </a:solidFill>
              </a:defRPr>
            </a:lvl2pPr>
            <a:lvl3pPr>
              <a:defRPr sz="975" b="0">
                <a:solidFill>
                  <a:srgbClr val="7C909B"/>
                </a:solidFill>
              </a:defRPr>
            </a:lvl3pPr>
            <a:lvl4pPr>
              <a:defRPr sz="975" b="0">
                <a:solidFill>
                  <a:srgbClr val="7C909B"/>
                </a:solidFill>
              </a:defRPr>
            </a:lvl4pPr>
            <a:lvl5pPr>
              <a:defRPr sz="975" b="0">
                <a:solidFill>
                  <a:srgbClr val="7C909B"/>
                </a:solidFill>
              </a:defRPr>
            </a:lvl5pPr>
            <a:lvl6pPr>
              <a:defRPr sz="975" b="0">
                <a:solidFill>
                  <a:srgbClr val="7C909B"/>
                </a:solidFill>
              </a:defRPr>
            </a:lvl6pPr>
            <a:lvl7pPr>
              <a:defRPr sz="975" b="0">
                <a:solidFill>
                  <a:srgbClr val="7C909B"/>
                </a:solidFill>
              </a:defRPr>
            </a:lvl7pPr>
            <a:lvl8pPr>
              <a:defRPr sz="975" b="0">
                <a:solidFill>
                  <a:srgbClr val="7C909B"/>
                </a:solidFill>
              </a:defRPr>
            </a:lvl8pPr>
            <a:lvl9pPr>
              <a:defRPr sz="975" b="0">
                <a:solidFill>
                  <a:srgbClr val="7C909B"/>
                </a:solidFill>
              </a:defRPr>
            </a:lvl9pPr>
          </a:lstStyle>
          <a:p xmlns:a="http://schemas.openxmlformats.org/drawingml/2006/main">
            <a:pPr>
              <a:defRPr sz="975" b="0">
                <a:solidFill>
                  <a:srgbClr val="7C909B"/>
                </a:solidFill>
              </a:defRPr>
            </a:pPr>
            <a:r>
              <a:rPr sz="975" b="0">
                <a:solidFill>
                  <a:srgbClr val="7C909B"/>
                </a:solidFill>
              </a:rPr>
              <a:t>05   /   SYNTHETIC PROTOTYPE</a:t>
            </a:r>
          </a:p>
        </p:txBody>
      </p:sp>
    </p:spTree>
    <p:extLst>
      <p:ext uri="{BB962C8B-B14F-4D97-AF65-F5344CB8AC3E}">
        <p14:creationId xmlns:p14="http://schemas.microsoft.com/office/powerpoint/2010/main" val="532520080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7FA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11A19A0-914A-44D2-9EC1-8314BEC522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57200"/>
            <a:ext cx="857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>
                <a:solidFill>
                  <a:srgbClr val="00828A"/>
                </a:solidFill>
              </a:defRPr>
            </a:defPPr>
            <a:lvl1pPr>
              <a:defRPr sz="1200" b="1">
                <a:solidFill>
                  <a:srgbClr val="00828A"/>
                </a:solidFill>
              </a:defRPr>
            </a:lvl1pPr>
            <a:lvl2pPr>
              <a:defRPr sz="1200" b="1">
                <a:solidFill>
                  <a:srgbClr val="00828A"/>
                </a:solidFill>
              </a:defRPr>
            </a:lvl2pPr>
            <a:lvl3pPr>
              <a:defRPr sz="1200" b="1">
                <a:solidFill>
                  <a:srgbClr val="00828A"/>
                </a:solidFill>
              </a:defRPr>
            </a:lvl3pPr>
            <a:lvl4pPr>
              <a:defRPr sz="1200" b="1">
                <a:solidFill>
                  <a:srgbClr val="00828A"/>
                </a:solidFill>
              </a:defRPr>
            </a:lvl4pPr>
            <a:lvl5pPr>
              <a:defRPr sz="1200" b="1">
                <a:solidFill>
                  <a:srgbClr val="00828A"/>
                </a:solidFill>
              </a:defRPr>
            </a:lvl5pPr>
            <a:lvl6pPr>
              <a:defRPr sz="1200" b="1">
                <a:solidFill>
                  <a:srgbClr val="00828A"/>
                </a:solidFill>
              </a:defRPr>
            </a:lvl6pPr>
            <a:lvl7pPr>
              <a:defRPr sz="1200" b="1">
                <a:solidFill>
                  <a:srgbClr val="00828A"/>
                </a:solidFill>
              </a:defRPr>
            </a:lvl7pPr>
            <a:lvl8pPr>
              <a:defRPr sz="1200" b="1">
                <a:solidFill>
                  <a:srgbClr val="00828A"/>
                </a:solidFill>
              </a:defRPr>
            </a:lvl8pPr>
            <a:lvl9pPr>
              <a:defRPr sz="1200" b="1">
                <a:solidFill>
                  <a:srgbClr val="00828A"/>
                </a:solidFill>
              </a:defRPr>
            </a:lvl9pPr>
          </a:lstStyle>
          <a:p xmlns:a="http://schemas.openxmlformats.org/drawingml/2006/main">
            <a:pPr>
              <a:defRPr sz="1200" b="1">
                <a:solidFill>
                  <a:srgbClr val="00828A"/>
                </a:solidFill>
              </a:defRPr>
            </a:pPr>
            <a:r>
              <a:rPr sz="1200" b="1">
                <a:solidFill>
                  <a:srgbClr val="00828A"/>
                </a:solidFill>
              </a:rPr>
              <a:t>VYAPAARSAATHI  /  TRACK 03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F0D3621-194F-44EA-9F69-27D209C6BA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047750"/>
            <a:ext cx="10572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75" b="1">
                <a:solidFill>
                  <a:srgbClr val="102940"/>
                </a:solidFill>
              </a:defRPr>
            </a:defPPr>
            <a:lvl1pPr>
              <a:defRPr sz="3375" b="1">
                <a:solidFill>
                  <a:srgbClr val="102940"/>
                </a:solidFill>
              </a:defRPr>
            </a:lvl1pPr>
            <a:lvl2pPr>
              <a:defRPr sz="3375" b="1">
                <a:solidFill>
                  <a:srgbClr val="102940"/>
                </a:solidFill>
              </a:defRPr>
            </a:lvl2pPr>
            <a:lvl3pPr>
              <a:defRPr sz="3375" b="1">
                <a:solidFill>
                  <a:srgbClr val="102940"/>
                </a:solidFill>
              </a:defRPr>
            </a:lvl3pPr>
            <a:lvl4pPr>
              <a:defRPr sz="3375" b="1">
                <a:solidFill>
                  <a:srgbClr val="102940"/>
                </a:solidFill>
              </a:defRPr>
            </a:lvl4pPr>
            <a:lvl5pPr>
              <a:defRPr sz="3375" b="1">
                <a:solidFill>
                  <a:srgbClr val="102940"/>
                </a:solidFill>
              </a:defRPr>
            </a:lvl5pPr>
            <a:lvl6pPr>
              <a:defRPr sz="3375" b="1">
                <a:solidFill>
                  <a:srgbClr val="102940"/>
                </a:solidFill>
              </a:defRPr>
            </a:lvl6pPr>
            <a:lvl7pPr>
              <a:defRPr sz="3375" b="1">
                <a:solidFill>
                  <a:srgbClr val="102940"/>
                </a:solidFill>
              </a:defRPr>
            </a:lvl7pPr>
            <a:lvl8pPr>
              <a:defRPr sz="3375" b="1">
                <a:solidFill>
                  <a:srgbClr val="102940"/>
                </a:solidFill>
              </a:defRPr>
            </a:lvl8pPr>
            <a:lvl9pPr>
              <a:defRPr sz="3375" b="1">
                <a:solidFill>
                  <a:srgbClr val="102940"/>
                </a:solidFill>
              </a:defRPr>
            </a:lvl9pPr>
          </a:lstStyle>
          <a:p xmlns:a="http://schemas.openxmlformats.org/drawingml/2006/main">
            <a:pPr>
              <a:defRPr sz="3375" b="1">
                <a:solidFill>
                  <a:srgbClr val="102940"/>
                </a:solidFill>
              </a:defRPr>
            </a:pPr>
            <a:r>
              <a:rPr sz="3375" b="1">
                <a:solidFill>
                  <a:srgbClr val="102940"/>
                </a:solidFill>
              </a:rPr>
              <a:t>Tech stack and current scope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3F70520-DD0B-449F-8707-690C0CFC61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333625"/>
            <a:ext cx="102870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325" b="1">
                <a:solidFill>
                  <a:srgbClr val="173D51"/>
                </a:solidFill>
              </a:defRPr>
            </a:defPPr>
            <a:lvl1pPr>
              <a:defRPr sz="2325" b="1">
                <a:solidFill>
                  <a:srgbClr val="173D51"/>
                </a:solidFill>
              </a:defRPr>
            </a:lvl1pPr>
            <a:lvl2pPr>
              <a:defRPr sz="2325" b="1">
                <a:solidFill>
                  <a:srgbClr val="173D51"/>
                </a:solidFill>
              </a:defRPr>
            </a:lvl2pPr>
            <a:lvl3pPr>
              <a:defRPr sz="2325" b="1">
                <a:solidFill>
                  <a:srgbClr val="173D51"/>
                </a:solidFill>
              </a:defRPr>
            </a:lvl3pPr>
            <a:lvl4pPr>
              <a:defRPr sz="2325" b="1">
                <a:solidFill>
                  <a:srgbClr val="173D51"/>
                </a:solidFill>
              </a:defRPr>
            </a:lvl4pPr>
            <a:lvl5pPr>
              <a:defRPr sz="2325" b="1">
                <a:solidFill>
                  <a:srgbClr val="173D51"/>
                </a:solidFill>
              </a:defRPr>
            </a:lvl5pPr>
            <a:lvl6pPr>
              <a:defRPr sz="2325" b="1">
                <a:solidFill>
                  <a:srgbClr val="173D51"/>
                </a:solidFill>
              </a:defRPr>
            </a:lvl6pPr>
            <a:lvl7pPr>
              <a:defRPr sz="2325" b="1">
                <a:solidFill>
                  <a:srgbClr val="173D51"/>
                </a:solidFill>
              </a:defRPr>
            </a:lvl7pPr>
            <a:lvl8pPr>
              <a:defRPr sz="2325" b="1">
                <a:solidFill>
                  <a:srgbClr val="173D51"/>
                </a:solidFill>
              </a:defRPr>
            </a:lvl8pPr>
            <a:lvl9pPr>
              <a:defRPr sz="2325" b="1">
                <a:solidFill>
                  <a:srgbClr val="173D51"/>
                </a:solidFill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73D51"/>
                </a:solidFill>
              </a:defRPr>
            </a:pPr>
            <a:r>
              <a:rPr sz="2325" b="1">
                <a:solidFill>
                  <a:srgbClr val="173D51"/>
                </a:solidFill>
              </a:rPr>
              <a:t>Public demo: predefined browser simulation</a:t>
            </a:r>
          </a:p>
          <a:p xmlns:a="http://schemas.openxmlformats.org/drawingml/2006/main">
            <a:pPr>
              <a:defRPr sz="2325" b="1">
                <a:solidFill>
                  <a:srgbClr val="173D51"/>
                </a:solidFill>
              </a:defRPr>
            </a:pPr>
            <a:r>
              <a:rPr sz="2325" b="1">
                <a:solidFill>
                  <a:srgbClr val="173D51"/>
                </a:solidFill>
              </a:rPr>
              <a:t>Local prototype: SQLite and optional AI experiment</a:t>
            </a:r>
          </a:p>
          <a:p xmlns:a="http://schemas.openxmlformats.org/drawingml/2006/main">
            <a:pPr>
              <a:defRPr sz="2325" b="1">
                <a:solidFill>
                  <a:srgbClr val="173D51"/>
                </a:solidFill>
              </a:defRPr>
            </a:pPr>
            <a:r>
              <a:rPr sz="2325" b="1">
                <a:solidFill>
                  <a:srgbClr val="173D51"/>
                </a:solidFill>
              </a:rPr>
              <a:t>Data: synthetic fixtures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47351A6-C245-4239-A098-7149D4CF44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238625"/>
            <a:ext cx="100965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0">
                <a:solidFill>
                  <a:srgbClr val="506779"/>
                </a:solidFill>
              </a:defRPr>
            </a:defPPr>
            <a:lvl1pPr>
              <a:defRPr sz="1650" b="0">
                <a:solidFill>
                  <a:srgbClr val="506779"/>
                </a:solidFill>
              </a:defRPr>
            </a:lvl1pPr>
            <a:lvl2pPr>
              <a:defRPr sz="1650" b="0">
                <a:solidFill>
                  <a:srgbClr val="506779"/>
                </a:solidFill>
              </a:defRPr>
            </a:lvl2pPr>
            <a:lvl3pPr>
              <a:defRPr sz="1650" b="0">
                <a:solidFill>
                  <a:srgbClr val="506779"/>
                </a:solidFill>
              </a:defRPr>
            </a:lvl3pPr>
            <a:lvl4pPr>
              <a:defRPr sz="1650" b="0">
                <a:solidFill>
                  <a:srgbClr val="506779"/>
                </a:solidFill>
              </a:defRPr>
            </a:lvl4pPr>
            <a:lvl5pPr>
              <a:defRPr sz="1650" b="0">
                <a:solidFill>
                  <a:srgbClr val="506779"/>
                </a:solidFill>
              </a:defRPr>
            </a:lvl5pPr>
            <a:lvl6pPr>
              <a:defRPr sz="1650" b="0">
                <a:solidFill>
                  <a:srgbClr val="506779"/>
                </a:solidFill>
              </a:defRPr>
            </a:lvl6pPr>
            <a:lvl7pPr>
              <a:defRPr sz="1650" b="0">
                <a:solidFill>
                  <a:srgbClr val="506779"/>
                </a:solidFill>
              </a:defRPr>
            </a:lvl7pPr>
            <a:lvl8pPr>
              <a:defRPr sz="1650" b="0">
                <a:solidFill>
                  <a:srgbClr val="506779"/>
                </a:solidFill>
              </a:defRPr>
            </a:lvl8pPr>
            <a:lvl9pPr>
              <a:defRPr sz="1650" b="0">
                <a:solidFill>
                  <a:srgbClr val="506779"/>
                </a:solidFill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506779"/>
                </a:solidFill>
              </a:defRPr>
            </a:pPr>
            <a:r>
              <a:rPr sz="1650" b="0">
                <a:solidFill>
                  <a:srgbClr val="506779"/>
                </a:solidFill>
              </a:rPr>
              <a:t>The public demo requires no API key. Its variable wording is scripted. No Paytm integration or real money movement is connected.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926D3DF-0F52-4271-87CE-EA7E3CDCBC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353175"/>
            <a:ext cx="8572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0">
                <a:solidFill>
                  <a:srgbClr val="7C909B"/>
                </a:solidFill>
              </a:defRPr>
            </a:defPPr>
            <a:lvl1pPr>
              <a:defRPr sz="975" b="0">
                <a:solidFill>
                  <a:srgbClr val="7C909B"/>
                </a:solidFill>
              </a:defRPr>
            </a:lvl1pPr>
            <a:lvl2pPr>
              <a:defRPr sz="975" b="0">
                <a:solidFill>
                  <a:srgbClr val="7C909B"/>
                </a:solidFill>
              </a:defRPr>
            </a:lvl2pPr>
            <a:lvl3pPr>
              <a:defRPr sz="975" b="0">
                <a:solidFill>
                  <a:srgbClr val="7C909B"/>
                </a:solidFill>
              </a:defRPr>
            </a:lvl3pPr>
            <a:lvl4pPr>
              <a:defRPr sz="975" b="0">
                <a:solidFill>
                  <a:srgbClr val="7C909B"/>
                </a:solidFill>
              </a:defRPr>
            </a:lvl4pPr>
            <a:lvl5pPr>
              <a:defRPr sz="975" b="0">
                <a:solidFill>
                  <a:srgbClr val="7C909B"/>
                </a:solidFill>
              </a:defRPr>
            </a:lvl5pPr>
            <a:lvl6pPr>
              <a:defRPr sz="975" b="0">
                <a:solidFill>
                  <a:srgbClr val="7C909B"/>
                </a:solidFill>
              </a:defRPr>
            </a:lvl6pPr>
            <a:lvl7pPr>
              <a:defRPr sz="975" b="0">
                <a:solidFill>
                  <a:srgbClr val="7C909B"/>
                </a:solidFill>
              </a:defRPr>
            </a:lvl7pPr>
            <a:lvl8pPr>
              <a:defRPr sz="975" b="0">
                <a:solidFill>
                  <a:srgbClr val="7C909B"/>
                </a:solidFill>
              </a:defRPr>
            </a:lvl8pPr>
            <a:lvl9pPr>
              <a:defRPr sz="975" b="0">
                <a:solidFill>
                  <a:srgbClr val="7C909B"/>
                </a:solidFill>
              </a:defRPr>
            </a:lvl9pPr>
          </a:lstStyle>
          <a:p xmlns:a="http://schemas.openxmlformats.org/drawingml/2006/main">
            <a:pPr>
              <a:defRPr sz="975" b="0">
                <a:solidFill>
                  <a:srgbClr val="7C909B"/>
                </a:solidFill>
              </a:defRPr>
            </a:pPr>
            <a:r>
              <a:rPr sz="975" b="0">
                <a:solidFill>
                  <a:srgbClr val="7C909B"/>
                </a:solidFill>
              </a:rPr>
              <a:t>06   /   SYNTHETIC PROTOTYPE</a:t>
            </a:r>
          </a:p>
        </p:txBody>
      </p:sp>
    </p:spTree>
    <p:extLst>
      <p:ext uri="{BB962C8B-B14F-4D97-AF65-F5344CB8AC3E}">
        <p14:creationId xmlns:p14="http://schemas.microsoft.com/office/powerpoint/2010/main" val="2066154978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7FA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A72A297-5158-4483-8D0E-E45AF18F69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57200"/>
            <a:ext cx="857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>
                <a:solidFill>
                  <a:srgbClr val="00828A"/>
                </a:solidFill>
              </a:defRPr>
            </a:defPPr>
            <a:lvl1pPr>
              <a:defRPr sz="1200" b="1">
                <a:solidFill>
                  <a:srgbClr val="00828A"/>
                </a:solidFill>
              </a:defRPr>
            </a:lvl1pPr>
            <a:lvl2pPr>
              <a:defRPr sz="1200" b="1">
                <a:solidFill>
                  <a:srgbClr val="00828A"/>
                </a:solidFill>
              </a:defRPr>
            </a:lvl2pPr>
            <a:lvl3pPr>
              <a:defRPr sz="1200" b="1">
                <a:solidFill>
                  <a:srgbClr val="00828A"/>
                </a:solidFill>
              </a:defRPr>
            </a:lvl3pPr>
            <a:lvl4pPr>
              <a:defRPr sz="1200" b="1">
                <a:solidFill>
                  <a:srgbClr val="00828A"/>
                </a:solidFill>
              </a:defRPr>
            </a:lvl4pPr>
            <a:lvl5pPr>
              <a:defRPr sz="1200" b="1">
                <a:solidFill>
                  <a:srgbClr val="00828A"/>
                </a:solidFill>
              </a:defRPr>
            </a:lvl5pPr>
            <a:lvl6pPr>
              <a:defRPr sz="1200" b="1">
                <a:solidFill>
                  <a:srgbClr val="00828A"/>
                </a:solidFill>
              </a:defRPr>
            </a:lvl6pPr>
            <a:lvl7pPr>
              <a:defRPr sz="1200" b="1">
                <a:solidFill>
                  <a:srgbClr val="00828A"/>
                </a:solidFill>
              </a:defRPr>
            </a:lvl7pPr>
            <a:lvl8pPr>
              <a:defRPr sz="1200" b="1">
                <a:solidFill>
                  <a:srgbClr val="00828A"/>
                </a:solidFill>
              </a:defRPr>
            </a:lvl8pPr>
            <a:lvl9pPr>
              <a:defRPr sz="1200" b="1">
                <a:solidFill>
                  <a:srgbClr val="00828A"/>
                </a:solidFill>
              </a:defRPr>
            </a:lvl9pPr>
          </a:lstStyle>
          <a:p xmlns:a="http://schemas.openxmlformats.org/drawingml/2006/main">
            <a:pPr>
              <a:defRPr sz="1200" b="1">
                <a:solidFill>
                  <a:srgbClr val="00828A"/>
                </a:solidFill>
              </a:defRPr>
            </a:pPr>
            <a:r>
              <a:rPr sz="1200" b="1">
                <a:solidFill>
                  <a:srgbClr val="00828A"/>
                </a:solidFill>
              </a:rPr>
              <a:t>VYAPAARSAATHI  /  TRACK 03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1C1B4C4-9CED-4AFA-8D82-806FCCC9E1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047750"/>
            <a:ext cx="10572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75" b="1">
                <a:solidFill>
                  <a:srgbClr val="102940"/>
                </a:solidFill>
              </a:defRPr>
            </a:defPPr>
            <a:lvl1pPr>
              <a:defRPr sz="3375" b="1">
                <a:solidFill>
                  <a:srgbClr val="102940"/>
                </a:solidFill>
              </a:defRPr>
            </a:lvl1pPr>
            <a:lvl2pPr>
              <a:defRPr sz="3375" b="1">
                <a:solidFill>
                  <a:srgbClr val="102940"/>
                </a:solidFill>
              </a:defRPr>
            </a:lvl2pPr>
            <a:lvl3pPr>
              <a:defRPr sz="3375" b="1">
                <a:solidFill>
                  <a:srgbClr val="102940"/>
                </a:solidFill>
              </a:defRPr>
            </a:lvl3pPr>
            <a:lvl4pPr>
              <a:defRPr sz="3375" b="1">
                <a:solidFill>
                  <a:srgbClr val="102940"/>
                </a:solidFill>
              </a:defRPr>
            </a:lvl4pPr>
            <a:lvl5pPr>
              <a:defRPr sz="3375" b="1">
                <a:solidFill>
                  <a:srgbClr val="102940"/>
                </a:solidFill>
              </a:defRPr>
            </a:lvl5pPr>
            <a:lvl6pPr>
              <a:defRPr sz="3375" b="1">
                <a:solidFill>
                  <a:srgbClr val="102940"/>
                </a:solidFill>
              </a:defRPr>
            </a:lvl6pPr>
            <a:lvl7pPr>
              <a:defRPr sz="3375" b="1">
                <a:solidFill>
                  <a:srgbClr val="102940"/>
                </a:solidFill>
              </a:defRPr>
            </a:lvl7pPr>
            <a:lvl8pPr>
              <a:defRPr sz="3375" b="1">
                <a:solidFill>
                  <a:srgbClr val="102940"/>
                </a:solidFill>
              </a:defRPr>
            </a:lvl8pPr>
            <a:lvl9pPr>
              <a:defRPr sz="3375" b="1">
                <a:solidFill>
                  <a:srgbClr val="102940"/>
                </a:solidFill>
              </a:defRPr>
            </a:lvl9pPr>
          </a:lstStyle>
          <a:p xmlns:a="http://schemas.openxmlformats.org/drawingml/2006/main">
            <a:pPr>
              <a:defRPr sz="3375" b="1">
                <a:solidFill>
                  <a:srgbClr val="102940"/>
                </a:solidFill>
              </a:defRPr>
            </a:pPr>
            <a:r>
              <a:rPr sz="3375" b="1">
                <a:solidFill>
                  <a:srgbClr val="102940"/>
                </a:solidFill>
              </a:rPr>
              <a:t>USP hypothesis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14B2182-7D6E-48EB-9671-E05E7C8593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333625"/>
            <a:ext cx="102870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325" b="1">
                <a:solidFill>
                  <a:srgbClr val="173D51"/>
                </a:solidFill>
              </a:defRPr>
            </a:defPPr>
            <a:lvl1pPr>
              <a:defRPr sz="2325" b="1">
                <a:solidFill>
                  <a:srgbClr val="173D51"/>
                </a:solidFill>
              </a:defRPr>
            </a:lvl1pPr>
            <a:lvl2pPr>
              <a:defRPr sz="2325" b="1">
                <a:solidFill>
                  <a:srgbClr val="173D51"/>
                </a:solidFill>
              </a:defRPr>
            </a:lvl2pPr>
            <a:lvl3pPr>
              <a:defRPr sz="2325" b="1">
                <a:solidFill>
                  <a:srgbClr val="173D51"/>
                </a:solidFill>
              </a:defRPr>
            </a:lvl3pPr>
            <a:lvl4pPr>
              <a:defRPr sz="2325" b="1">
                <a:solidFill>
                  <a:srgbClr val="173D51"/>
                </a:solidFill>
              </a:defRPr>
            </a:lvl4pPr>
            <a:lvl5pPr>
              <a:defRPr sz="2325" b="1">
                <a:solidFill>
                  <a:srgbClr val="173D51"/>
                </a:solidFill>
              </a:defRPr>
            </a:lvl5pPr>
            <a:lvl6pPr>
              <a:defRPr sz="2325" b="1">
                <a:solidFill>
                  <a:srgbClr val="173D51"/>
                </a:solidFill>
              </a:defRPr>
            </a:lvl6pPr>
            <a:lvl7pPr>
              <a:defRPr sz="2325" b="1">
                <a:solidFill>
                  <a:srgbClr val="173D51"/>
                </a:solidFill>
              </a:defRPr>
            </a:lvl7pPr>
            <a:lvl8pPr>
              <a:defRPr sz="2325" b="1">
                <a:solidFill>
                  <a:srgbClr val="173D51"/>
                </a:solidFill>
              </a:defRPr>
            </a:lvl8pPr>
            <a:lvl9pPr>
              <a:defRPr sz="2325" b="1">
                <a:solidFill>
                  <a:srgbClr val="173D51"/>
                </a:solidFill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73D51"/>
                </a:solidFill>
              </a:defRPr>
            </a:pPr>
            <a:r>
              <a:rPr sz="2325" b="1">
                <a:solidFill>
                  <a:srgbClr val="173D51"/>
                </a:solidFill>
              </a:rPr>
              <a:t>Resolve conflicts across payment, order and inventory with evidence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127BC06-907D-4099-BA99-5CDE7D7B27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238625"/>
            <a:ext cx="100965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0">
                <a:solidFill>
                  <a:srgbClr val="506779"/>
                </a:solidFill>
              </a:defRPr>
            </a:defPPr>
            <a:lvl1pPr>
              <a:defRPr sz="1650" b="0">
                <a:solidFill>
                  <a:srgbClr val="506779"/>
                </a:solidFill>
              </a:defRPr>
            </a:lvl1pPr>
            <a:lvl2pPr>
              <a:defRPr sz="1650" b="0">
                <a:solidFill>
                  <a:srgbClr val="506779"/>
                </a:solidFill>
              </a:defRPr>
            </a:lvl2pPr>
            <a:lvl3pPr>
              <a:defRPr sz="1650" b="0">
                <a:solidFill>
                  <a:srgbClr val="506779"/>
                </a:solidFill>
              </a:defRPr>
            </a:lvl3pPr>
            <a:lvl4pPr>
              <a:defRPr sz="1650" b="0">
                <a:solidFill>
                  <a:srgbClr val="506779"/>
                </a:solidFill>
              </a:defRPr>
            </a:lvl4pPr>
            <a:lvl5pPr>
              <a:defRPr sz="1650" b="0">
                <a:solidFill>
                  <a:srgbClr val="506779"/>
                </a:solidFill>
              </a:defRPr>
            </a:lvl5pPr>
            <a:lvl6pPr>
              <a:defRPr sz="1650" b="0">
                <a:solidFill>
                  <a:srgbClr val="506779"/>
                </a:solidFill>
              </a:defRPr>
            </a:lvl6pPr>
            <a:lvl7pPr>
              <a:defRPr sz="1650" b="0">
                <a:solidFill>
                  <a:srgbClr val="506779"/>
                </a:solidFill>
              </a:defRPr>
            </a:lvl7pPr>
            <a:lvl8pPr>
              <a:defRPr sz="1650" b="0">
                <a:solidFill>
                  <a:srgbClr val="506779"/>
                </a:solidFill>
              </a:defRPr>
            </a:lvl8pPr>
            <a:lvl9pPr>
              <a:defRPr sz="1650" b="0">
                <a:solidFill>
                  <a:srgbClr val="506779"/>
                </a:solidFill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506779"/>
                </a:solidFill>
              </a:defRPr>
            </a:pPr>
            <a:r>
              <a:rPr sz="1650" b="0">
                <a:solidFill>
                  <a:srgbClr val="506779"/>
                </a:solidFill>
              </a:rPr>
              <a:t>Intercom, Zoho, Cashfree and Razorpay already automate parts of this journey. The proposed gap and merchant demand remain unvalidated.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943610E-7523-40C8-934B-A72AC8DC6B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353175"/>
            <a:ext cx="8572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0">
                <a:solidFill>
                  <a:srgbClr val="7C909B"/>
                </a:solidFill>
              </a:defRPr>
            </a:defPPr>
            <a:lvl1pPr>
              <a:defRPr sz="975" b="0">
                <a:solidFill>
                  <a:srgbClr val="7C909B"/>
                </a:solidFill>
              </a:defRPr>
            </a:lvl1pPr>
            <a:lvl2pPr>
              <a:defRPr sz="975" b="0">
                <a:solidFill>
                  <a:srgbClr val="7C909B"/>
                </a:solidFill>
              </a:defRPr>
            </a:lvl2pPr>
            <a:lvl3pPr>
              <a:defRPr sz="975" b="0">
                <a:solidFill>
                  <a:srgbClr val="7C909B"/>
                </a:solidFill>
              </a:defRPr>
            </a:lvl3pPr>
            <a:lvl4pPr>
              <a:defRPr sz="975" b="0">
                <a:solidFill>
                  <a:srgbClr val="7C909B"/>
                </a:solidFill>
              </a:defRPr>
            </a:lvl4pPr>
            <a:lvl5pPr>
              <a:defRPr sz="975" b="0">
                <a:solidFill>
                  <a:srgbClr val="7C909B"/>
                </a:solidFill>
              </a:defRPr>
            </a:lvl5pPr>
            <a:lvl6pPr>
              <a:defRPr sz="975" b="0">
                <a:solidFill>
                  <a:srgbClr val="7C909B"/>
                </a:solidFill>
              </a:defRPr>
            </a:lvl6pPr>
            <a:lvl7pPr>
              <a:defRPr sz="975" b="0">
                <a:solidFill>
                  <a:srgbClr val="7C909B"/>
                </a:solidFill>
              </a:defRPr>
            </a:lvl7pPr>
            <a:lvl8pPr>
              <a:defRPr sz="975" b="0">
                <a:solidFill>
                  <a:srgbClr val="7C909B"/>
                </a:solidFill>
              </a:defRPr>
            </a:lvl8pPr>
            <a:lvl9pPr>
              <a:defRPr sz="975" b="0">
                <a:solidFill>
                  <a:srgbClr val="7C909B"/>
                </a:solidFill>
              </a:defRPr>
            </a:lvl9pPr>
          </a:lstStyle>
          <a:p xmlns:a="http://schemas.openxmlformats.org/drawingml/2006/main">
            <a:pPr>
              <a:defRPr sz="975" b="0">
                <a:solidFill>
                  <a:srgbClr val="7C909B"/>
                </a:solidFill>
              </a:defRPr>
            </a:pPr>
            <a:r>
              <a:rPr sz="975" b="0">
                <a:solidFill>
                  <a:srgbClr val="7C909B"/>
                </a:solidFill>
              </a:rPr>
              <a:t>07   /   SYNTHETIC PROTOTYPE</a:t>
            </a:r>
          </a:p>
        </p:txBody>
      </p:sp>
    </p:spTree>
    <p:extLst>
      <p:ext uri="{BB962C8B-B14F-4D97-AF65-F5344CB8AC3E}">
        <p14:creationId xmlns:p14="http://schemas.microsoft.com/office/powerpoint/2010/main" val="251822039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7FA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682BB97-085E-4959-8F55-9F2D620C70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57200"/>
            <a:ext cx="857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>
                <a:solidFill>
                  <a:srgbClr val="00828A"/>
                </a:solidFill>
              </a:defRPr>
            </a:defPPr>
            <a:lvl1pPr>
              <a:defRPr sz="1200" b="1">
                <a:solidFill>
                  <a:srgbClr val="00828A"/>
                </a:solidFill>
              </a:defRPr>
            </a:lvl1pPr>
            <a:lvl2pPr>
              <a:defRPr sz="1200" b="1">
                <a:solidFill>
                  <a:srgbClr val="00828A"/>
                </a:solidFill>
              </a:defRPr>
            </a:lvl2pPr>
            <a:lvl3pPr>
              <a:defRPr sz="1200" b="1">
                <a:solidFill>
                  <a:srgbClr val="00828A"/>
                </a:solidFill>
              </a:defRPr>
            </a:lvl3pPr>
            <a:lvl4pPr>
              <a:defRPr sz="1200" b="1">
                <a:solidFill>
                  <a:srgbClr val="00828A"/>
                </a:solidFill>
              </a:defRPr>
            </a:lvl4pPr>
            <a:lvl5pPr>
              <a:defRPr sz="1200" b="1">
                <a:solidFill>
                  <a:srgbClr val="00828A"/>
                </a:solidFill>
              </a:defRPr>
            </a:lvl5pPr>
            <a:lvl6pPr>
              <a:defRPr sz="1200" b="1">
                <a:solidFill>
                  <a:srgbClr val="00828A"/>
                </a:solidFill>
              </a:defRPr>
            </a:lvl6pPr>
            <a:lvl7pPr>
              <a:defRPr sz="1200" b="1">
                <a:solidFill>
                  <a:srgbClr val="00828A"/>
                </a:solidFill>
              </a:defRPr>
            </a:lvl7pPr>
            <a:lvl8pPr>
              <a:defRPr sz="1200" b="1">
                <a:solidFill>
                  <a:srgbClr val="00828A"/>
                </a:solidFill>
              </a:defRPr>
            </a:lvl8pPr>
            <a:lvl9pPr>
              <a:defRPr sz="1200" b="1">
                <a:solidFill>
                  <a:srgbClr val="00828A"/>
                </a:solidFill>
              </a:defRPr>
            </a:lvl9pPr>
          </a:lstStyle>
          <a:p xmlns:a="http://schemas.openxmlformats.org/drawingml/2006/main">
            <a:pPr>
              <a:defRPr sz="1200" b="1">
                <a:solidFill>
                  <a:srgbClr val="00828A"/>
                </a:solidFill>
              </a:defRPr>
            </a:pPr>
            <a:r>
              <a:rPr sz="1200" b="1">
                <a:solidFill>
                  <a:srgbClr val="00828A"/>
                </a:solidFill>
              </a:rPr>
              <a:t>VYAPAARSAATHI  /  TRACK 03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DC79BAB-81AE-4BBD-9F9A-ABBA533B58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047750"/>
            <a:ext cx="10572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75" b="1">
                <a:solidFill>
                  <a:srgbClr val="102940"/>
                </a:solidFill>
              </a:defRPr>
            </a:defPPr>
            <a:lvl1pPr>
              <a:defRPr sz="3375" b="1">
                <a:solidFill>
                  <a:srgbClr val="102940"/>
                </a:solidFill>
              </a:defRPr>
            </a:lvl1pPr>
            <a:lvl2pPr>
              <a:defRPr sz="3375" b="1">
                <a:solidFill>
                  <a:srgbClr val="102940"/>
                </a:solidFill>
              </a:defRPr>
            </a:lvl2pPr>
            <a:lvl3pPr>
              <a:defRPr sz="3375" b="1">
                <a:solidFill>
                  <a:srgbClr val="102940"/>
                </a:solidFill>
              </a:defRPr>
            </a:lvl3pPr>
            <a:lvl4pPr>
              <a:defRPr sz="3375" b="1">
                <a:solidFill>
                  <a:srgbClr val="102940"/>
                </a:solidFill>
              </a:defRPr>
            </a:lvl4pPr>
            <a:lvl5pPr>
              <a:defRPr sz="3375" b="1">
                <a:solidFill>
                  <a:srgbClr val="102940"/>
                </a:solidFill>
              </a:defRPr>
            </a:lvl5pPr>
            <a:lvl6pPr>
              <a:defRPr sz="3375" b="1">
                <a:solidFill>
                  <a:srgbClr val="102940"/>
                </a:solidFill>
              </a:defRPr>
            </a:lvl6pPr>
            <a:lvl7pPr>
              <a:defRPr sz="3375" b="1">
                <a:solidFill>
                  <a:srgbClr val="102940"/>
                </a:solidFill>
              </a:defRPr>
            </a:lvl7pPr>
            <a:lvl8pPr>
              <a:defRPr sz="3375" b="1">
                <a:solidFill>
                  <a:srgbClr val="102940"/>
                </a:solidFill>
              </a:defRPr>
            </a:lvl8pPr>
            <a:lvl9pPr>
              <a:defRPr sz="3375" b="1">
                <a:solidFill>
                  <a:srgbClr val="102940"/>
                </a:solidFill>
              </a:defRPr>
            </a:lvl9pPr>
          </a:lstStyle>
          <a:p xmlns:a="http://schemas.openxmlformats.org/drawingml/2006/main">
            <a:pPr>
              <a:defRPr sz="3375" b="1">
                <a:solidFill>
                  <a:srgbClr val="102940"/>
                </a:solidFill>
              </a:defRPr>
            </a:pPr>
            <a:r>
              <a:rPr sz="3375" b="1">
                <a:solidFill>
                  <a:srgbClr val="102940"/>
                </a:solidFill>
              </a:rPr>
              <a:t>Evidence from a synthetic test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ED76042-2E79-4B5C-84CA-7CB9278B13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333625"/>
            <a:ext cx="102870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325" b="1">
                <a:solidFill>
                  <a:srgbClr val="173D51"/>
                </a:solidFill>
              </a:defRPr>
            </a:defPPr>
            <a:lvl1pPr>
              <a:defRPr sz="2325" b="1">
                <a:solidFill>
                  <a:srgbClr val="173D51"/>
                </a:solidFill>
              </a:defRPr>
            </a:lvl1pPr>
            <a:lvl2pPr>
              <a:defRPr sz="2325" b="1">
                <a:solidFill>
                  <a:srgbClr val="173D51"/>
                </a:solidFill>
              </a:defRPr>
            </a:lvl2pPr>
            <a:lvl3pPr>
              <a:defRPr sz="2325" b="1">
                <a:solidFill>
                  <a:srgbClr val="173D51"/>
                </a:solidFill>
              </a:defRPr>
            </a:lvl3pPr>
            <a:lvl4pPr>
              <a:defRPr sz="2325" b="1">
                <a:solidFill>
                  <a:srgbClr val="173D51"/>
                </a:solidFill>
              </a:defRPr>
            </a:lvl4pPr>
            <a:lvl5pPr>
              <a:defRPr sz="2325" b="1">
                <a:solidFill>
                  <a:srgbClr val="173D51"/>
                </a:solidFill>
              </a:defRPr>
            </a:lvl5pPr>
            <a:lvl6pPr>
              <a:defRPr sz="2325" b="1">
                <a:solidFill>
                  <a:srgbClr val="173D51"/>
                </a:solidFill>
              </a:defRPr>
            </a:lvl6pPr>
            <a:lvl7pPr>
              <a:defRPr sz="2325" b="1">
                <a:solidFill>
                  <a:srgbClr val="173D51"/>
                </a:solidFill>
              </a:defRPr>
            </a:lvl7pPr>
            <a:lvl8pPr>
              <a:defRPr sz="2325" b="1">
                <a:solidFill>
                  <a:srgbClr val="173D51"/>
                </a:solidFill>
              </a:defRPr>
            </a:lvl8pPr>
            <a:lvl9pPr>
              <a:defRPr sz="2325" b="1">
                <a:solidFill>
                  <a:srgbClr val="173D51"/>
                </a:solidFill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73D51"/>
                </a:solidFill>
              </a:defRPr>
            </a:pPr>
            <a:r>
              <a:rPr sz="2325" b="1">
                <a:solidFill>
                  <a:srgbClr val="173D51"/>
                </a:solidFill>
              </a:rPr>
              <a:t>7 of 7 expected decisions matched</a:t>
            </a:r>
          </a:p>
          <a:p xmlns:a="http://schemas.openxmlformats.org/drawingml/2006/main">
            <a:pPr>
              <a:defRPr sz="2325" b="1">
                <a:solidFill>
                  <a:srgbClr val="173D51"/>
                </a:solidFill>
              </a:defRPr>
            </a:pPr>
            <a:r>
              <a:rPr sz="2325" b="1">
                <a:solidFill>
                  <a:srgbClr val="173D51"/>
                </a:solidFill>
              </a:rPr>
              <a:t>1 of 7 for a simple baseline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21F5847-B7B6-4A6F-A734-496538236F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238625"/>
            <a:ext cx="100965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0">
                <a:solidFill>
                  <a:srgbClr val="506779"/>
                </a:solidFill>
              </a:defRPr>
            </a:defPPr>
            <a:lvl1pPr>
              <a:defRPr sz="1650" b="0">
                <a:solidFill>
                  <a:srgbClr val="506779"/>
                </a:solidFill>
              </a:defRPr>
            </a:lvl1pPr>
            <a:lvl2pPr>
              <a:defRPr sz="1650" b="0">
                <a:solidFill>
                  <a:srgbClr val="506779"/>
                </a:solidFill>
              </a:defRPr>
            </a:lvl2pPr>
            <a:lvl3pPr>
              <a:defRPr sz="1650" b="0">
                <a:solidFill>
                  <a:srgbClr val="506779"/>
                </a:solidFill>
              </a:defRPr>
            </a:lvl3pPr>
            <a:lvl4pPr>
              <a:defRPr sz="1650" b="0">
                <a:solidFill>
                  <a:srgbClr val="506779"/>
                </a:solidFill>
              </a:defRPr>
            </a:lvl4pPr>
            <a:lvl5pPr>
              <a:defRPr sz="1650" b="0">
                <a:solidFill>
                  <a:srgbClr val="506779"/>
                </a:solidFill>
              </a:defRPr>
            </a:lvl5pPr>
            <a:lvl6pPr>
              <a:defRPr sz="1650" b="0">
                <a:solidFill>
                  <a:srgbClr val="506779"/>
                </a:solidFill>
              </a:defRPr>
            </a:lvl6pPr>
            <a:lvl7pPr>
              <a:defRPr sz="1650" b="0">
                <a:solidFill>
                  <a:srgbClr val="506779"/>
                </a:solidFill>
              </a:defRPr>
            </a:lvl7pPr>
            <a:lvl8pPr>
              <a:defRPr sz="1650" b="0">
                <a:solidFill>
                  <a:srgbClr val="506779"/>
                </a:solidFill>
              </a:defRPr>
            </a:lvl8pPr>
            <a:lvl9pPr>
              <a:defRPr sz="1650" b="0">
                <a:solidFill>
                  <a:srgbClr val="506779"/>
                </a:solidFill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506779"/>
                </a:solidFill>
              </a:defRPr>
            </a:pPr>
            <a:r>
              <a:rPr sz="1650" b="0">
                <a:solidFill>
                  <a:srgbClr val="506779"/>
                </a:solidFill>
              </a:rPr>
              <a:t>Seven hand-authored payment scenarios. Baseline confirms any captured payment; otherwise asks for retry. Scenarios were designed with the rules, so this is a regression check, not an accuracy estimate.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38D7060-8AA4-410A-B2F0-75ADCD47AC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353175"/>
            <a:ext cx="8572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0">
                <a:solidFill>
                  <a:srgbClr val="7C909B"/>
                </a:solidFill>
              </a:defRPr>
            </a:defPPr>
            <a:lvl1pPr>
              <a:defRPr sz="975" b="0">
                <a:solidFill>
                  <a:srgbClr val="7C909B"/>
                </a:solidFill>
              </a:defRPr>
            </a:lvl1pPr>
            <a:lvl2pPr>
              <a:defRPr sz="975" b="0">
                <a:solidFill>
                  <a:srgbClr val="7C909B"/>
                </a:solidFill>
              </a:defRPr>
            </a:lvl2pPr>
            <a:lvl3pPr>
              <a:defRPr sz="975" b="0">
                <a:solidFill>
                  <a:srgbClr val="7C909B"/>
                </a:solidFill>
              </a:defRPr>
            </a:lvl3pPr>
            <a:lvl4pPr>
              <a:defRPr sz="975" b="0">
                <a:solidFill>
                  <a:srgbClr val="7C909B"/>
                </a:solidFill>
              </a:defRPr>
            </a:lvl4pPr>
            <a:lvl5pPr>
              <a:defRPr sz="975" b="0">
                <a:solidFill>
                  <a:srgbClr val="7C909B"/>
                </a:solidFill>
              </a:defRPr>
            </a:lvl5pPr>
            <a:lvl6pPr>
              <a:defRPr sz="975" b="0">
                <a:solidFill>
                  <a:srgbClr val="7C909B"/>
                </a:solidFill>
              </a:defRPr>
            </a:lvl6pPr>
            <a:lvl7pPr>
              <a:defRPr sz="975" b="0">
                <a:solidFill>
                  <a:srgbClr val="7C909B"/>
                </a:solidFill>
              </a:defRPr>
            </a:lvl7pPr>
            <a:lvl8pPr>
              <a:defRPr sz="975" b="0">
                <a:solidFill>
                  <a:srgbClr val="7C909B"/>
                </a:solidFill>
              </a:defRPr>
            </a:lvl8pPr>
            <a:lvl9pPr>
              <a:defRPr sz="975" b="0">
                <a:solidFill>
                  <a:srgbClr val="7C909B"/>
                </a:solidFill>
              </a:defRPr>
            </a:lvl9pPr>
          </a:lstStyle>
          <a:p xmlns:a="http://schemas.openxmlformats.org/drawingml/2006/main">
            <a:pPr>
              <a:defRPr sz="975" b="0">
                <a:solidFill>
                  <a:srgbClr val="7C909B"/>
                </a:solidFill>
              </a:defRPr>
            </a:pPr>
            <a:r>
              <a:rPr sz="975" b="0">
                <a:solidFill>
                  <a:srgbClr val="7C909B"/>
                </a:solidFill>
              </a:rPr>
              <a:t>08   /   SYNTHETIC PROTOTYPE</a:t>
            </a:r>
          </a:p>
        </p:txBody>
      </p:sp>
    </p:spTree>
    <p:extLst>
      <p:ext uri="{BB962C8B-B14F-4D97-AF65-F5344CB8AC3E}">
        <p14:creationId xmlns:p14="http://schemas.microsoft.com/office/powerpoint/2010/main" val="541533352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7FA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6389CA3-69C3-4696-B9EC-A3A798BD7E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57200"/>
            <a:ext cx="857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>
                <a:solidFill>
                  <a:srgbClr val="00828A"/>
                </a:solidFill>
              </a:defRPr>
            </a:defPPr>
            <a:lvl1pPr>
              <a:defRPr sz="1200" b="1">
                <a:solidFill>
                  <a:srgbClr val="00828A"/>
                </a:solidFill>
              </a:defRPr>
            </a:lvl1pPr>
            <a:lvl2pPr>
              <a:defRPr sz="1200" b="1">
                <a:solidFill>
                  <a:srgbClr val="00828A"/>
                </a:solidFill>
              </a:defRPr>
            </a:lvl2pPr>
            <a:lvl3pPr>
              <a:defRPr sz="1200" b="1">
                <a:solidFill>
                  <a:srgbClr val="00828A"/>
                </a:solidFill>
              </a:defRPr>
            </a:lvl3pPr>
            <a:lvl4pPr>
              <a:defRPr sz="1200" b="1">
                <a:solidFill>
                  <a:srgbClr val="00828A"/>
                </a:solidFill>
              </a:defRPr>
            </a:lvl4pPr>
            <a:lvl5pPr>
              <a:defRPr sz="1200" b="1">
                <a:solidFill>
                  <a:srgbClr val="00828A"/>
                </a:solidFill>
              </a:defRPr>
            </a:lvl5pPr>
            <a:lvl6pPr>
              <a:defRPr sz="1200" b="1">
                <a:solidFill>
                  <a:srgbClr val="00828A"/>
                </a:solidFill>
              </a:defRPr>
            </a:lvl6pPr>
            <a:lvl7pPr>
              <a:defRPr sz="1200" b="1">
                <a:solidFill>
                  <a:srgbClr val="00828A"/>
                </a:solidFill>
              </a:defRPr>
            </a:lvl7pPr>
            <a:lvl8pPr>
              <a:defRPr sz="1200" b="1">
                <a:solidFill>
                  <a:srgbClr val="00828A"/>
                </a:solidFill>
              </a:defRPr>
            </a:lvl8pPr>
            <a:lvl9pPr>
              <a:defRPr sz="1200" b="1">
                <a:solidFill>
                  <a:srgbClr val="00828A"/>
                </a:solidFill>
              </a:defRPr>
            </a:lvl9pPr>
          </a:lstStyle>
          <a:p xmlns:a="http://schemas.openxmlformats.org/drawingml/2006/main">
            <a:pPr>
              <a:defRPr sz="1200" b="1">
                <a:solidFill>
                  <a:srgbClr val="00828A"/>
                </a:solidFill>
              </a:defRPr>
            </a:pPr>
            <a:r>
              <a:rPr sz="1200" b="1">
                <a:solidFill>
                  <a:srgbClr val="00828A"/>
                </a:solidFill>
              </a:rPr>
              <a:t>VYAPAARSAATHI  /  TRACK 03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E0E3C28-A1CB-4230-AD29-E2E79366D6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047750"/>
            <a:ext cx="10572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75" b="1">
                <a:solidFill>
                  <a:srgbClr val="102940"/>
                </a:solidFill>
              </a:defRPr>
            </a:defPPr>
            <a:lvl1pPr>
              <a:defRPr sz="3375" b="1">
                <a:solidFill>
                  <a:srgbClr val="102940"/>
                </a:solidFill>
              </a:defRPr>
            </a:lvl1pPr>
            <a:lvl2pPr>
              <a:defRPr sz="3375" b="1">
                <a:solidFill>
                  <a:srgbClr val="102940"/>
                </a:solidFill>
              </a:defRPr>
            </a:lvl2pPr>
            <a:lvl3pPr>
              <a:defRPr sz="3375" b="1">
                <a:solidFill>
                  <a:srgbClr val="102940"/>
                </a:solidFill>
              </a:defRPr>
            </a:lvl3pPr>
            <a:lvl4pPr>
              <a:defRPr sz="3375" b="1">
                <a:solidFill>
                  <a:srgbClr val="102940"/>
                </a:solidFill>
              </a:defRPr>
            </a:lvl4pPr>
            <a:lvl5pPr>
              <a:defRPr sz="3375" b="1">
                <a:solidFill>
                  <a:srgbClr val="102940"/>
                </a:solidFill>
              </a:defRPr>
            </a:lvl5pPr>
            <a:lvl6pPr>
              <a:defRPr sz="3375" b="1">
                <a:solidFill>
                  <a:srgbClr val="102940"/>
                </a:solidFill>
              </a:defRPr>
            </a:lvl6pPr>
            <a:lvl7pPr>
              <a:defRPr sz="3375" b="1">
                <a:solidFill>
                  <a:srgbClr val="102940"/>
                </a:solidFill>
              </a:defRPr>
            </a:lvl7pPr>
            <a:lvl8pPr>
              <a:defRPr sz="3375" b="1">
                <a:solidFill>
                  <a:srgbClr val="102940"/>
                </a:solidFill>
              </a:defRPr>
            </a:lvl8pPr>
            <a:lvl9pPr>
              <a:defRPr sz="3375" b="1">
                <a:solidFill>
                  <a:srgbClr val="102940"/>
                </a:solidFill>
              </a:defRPr>
            </a:lvl9pPr>
          </a:lstStyle>
          <a:p xmlns:a="http://schemas.openxmlformats.org/drawingml/2006/main">
            <a:pPr>
              <a:defRPr sz="3375" b="1">
                <a:solidFill>
                  <a:srgbClr val="102940"/>
                </a:solidFill>
              </a:defRPr>
            </a:pPr>
            <a:r>
              <a:rPr sz="3375" b="1">
                <a:solidFill>
                  <a:srgbClr val="102940"/>
                </a:solidFill>
              </a:rPr>
              <a:t>Impact to measure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E3593AE-ABCB-4900-9D63-2EBFC9F05E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333625"/>
            <a:ext cx="102870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325" b="1">
                <a:solidFill>
                  <a:srgbClr val="173D51"/>
                </a:solidFill>
              </a:defRPr>
            </a:defPPr>
            <a:lvl1pPr>
              <a:defRPr sz="2325" b="1">
                <a:solidFill>
                  <a:srgbClr val="173D51"/>
                </a:solidFill>
              </a:defRPr>
            </a:lvl1pPr>
            <a:lvl2pPr>
              <a:defRPr sz="2325" b="1">
                <a:solidFill>
                  <a:srgbClr val="173D51"/>
                </a:solidFill>
              </a:defRPr>
            </a:lvl2pPr>
            <a:lvl3pPr>
              <a:defRPr sz="2325" b="1">
                <a:solidFill>
                  <a:srgbClr val="173D51"/>
                </a:solidFill>
              </a:defRPr>
            </a:lvl3pPr>
            <a:lvl4pPr>
              <a:defRPr sz="2325" b="1">
                <a:solidFill>
                  <a:srgbClr val="173D51"/>
                </a:solidFill>
              </a:defRPr>
            </a:lvl4pPr>
            <a:lvl5pPr>
              <a:defRPr sz="2325" b="1">
                <a:solidFill>
                  <a:srgbClr val="173D51"/>
                </a:solidFill>
              </a:defRPr>
            </a:lvl5pPr>
            <a:lvl6pPr>
              <a:defRPr sz="2325" b="1">
                <a:solidFill>
                  <a:srgbClr val="173D51"/>
                </a:solidFill>
              </a:defRPr>
            </a:lvl6pPr>
            <a:lvl7pPr>
              <a:defRPr sz="2325" b="1">
                <a:solidFill>
                  <a:srgbClr val="173D51"/>
                </a:solidFill>
              </a:defRPr>
            </a:lvl7pPr>
            <a:lvl8pPr>
              <a:defRPr sz="2325" b="1">
                <a:solidFill>
                  <a:srgbClr val="173D51"/>
                </a:solidFill>
              </a:defRPr>
            </a:lvl8pPr>
            <a:lvl9pPr>
              <a:defRPr sz="2325" b="1">
                <a:solidFill>
                  <a:srgbClr val="173D51"/>
                </a:solidFill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73D51"/>
                </a:solidFill>
              </a:defRPr>
            </a:pPr>
            <a:r>
              <a:rPr sz="2325" b="1">
                <a:solidFill>
                  <a:srgbClr val="173D51"/>
                </a:solidFill>
              </a:rPr>
              <a:t>Confirmed resolutions and time to resolution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BD4CF74-AF95-4838-828F-9EA929EE53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238625"/>
            <a:ext cx="100965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0">
                <a:solidFill>
                  <a:srgbClr val="506779"/>
                </a:solidFill>
              </a:defRPr>
            </a:defPPr>
            <a:lvl1pPr>
              <a:defRPr sz="1650" b="0">
                <a:solidFill>
                  <a:srgbClr val="506779"/>
                </a:solidFill>
              </a:defRPr>
            </a:lvl1pPr>
            <a:lvl2pPr>
              <a:defRPr sz="1650" b="0">
                <a:solidFill>
                  <a:srgbClr val="506779"/>
                </a:solidFill>
              </a:defRPr>
            </a:lvl2pPr>
            <a:lvl3pPr>
              <a:defRPr sz="1650" b="0">
                <a:solidFill>
                  <a:srgbClr val="506779"/>
                </a:solidFill>
              </a:defRPr>
            </a:lvl3pPr>
            <a:lvl4pPr>
              <a:defRPr sz="1650" b="0">
                <a:solidFill>
                  <a:srgbClr val="506779"/>
                </a:solidFill>
              </a:defRPr>
            </a:lvl4pPr>
            <a:lvl5pPr>
              <a:defRPr sz="1650" b="0">
                <a:solidFill>
                  <a:srgbClr val="506779"/>
                </a:solidFill>
              </a:defRPr>
            </a:lvl5pPr>
            <a:lvl6pPr>
              <a:defRPr sz="1650" b="0">
                <a:solidFill>
                  <a:srgbClr val="506779"/>
                </a:solidFill>
              </a:defRPr>
            </a:lvl6pPr>
            <a:lvl7pPr>
              <a:defRPr sz="1650" b="0">
                <a:solidFill>
                  <a:srgbClr val="506779"/>
                </a:solidFill>
              </a:defRPr>
            </a:lvl7pPr>
            <a:lvl8pPr>
              <a:defRPr sz="1650" b="0">
                <a:solidFill>
                  <a:srgbClr val="506779"/>
                </a:solidFill>
              </a:defRPr>
            </a:lvl8pPr>
            <a:lvl9pPr>
              <a:defRPr sz="1650" b="0">
                <a:solidFill>
                  <a:srgbClr val="506779"/>
                </a:solidFill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506779"/>
                </a:solidFill>
              </a:defRPr>
            </a:pPr>
            <a:r>
              <a:rPr sz="1650" b="0">
                <a:solidFill>
                  <a:srgbClr val="506779"/>
                </a:solidFill>
              </a:rPr>
              <a:t>Pilot with consenting merchants. Track duplicate actions, escalation and verified customer outcomes. Tickets and initiated refunds are not money recovered. No merchant impact is claimed yet.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82C0DF7-39D8-4814-9177-97E71B034B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353175"/>
            <a:ext cx="8572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0">
                <a:solidFill>
                  <a:srgbClr val="7C909B"/>
                </a:solidFill>
              </a:defRPr>
            </a:defPPr>
            <a:lvl1pPr>
              <a:defRPr sz="975" b="0">
                <a:solidFill>
                  <a:srgbClr val="7C909B"/>
                </a:solidFill>
              </a:defRPr>
            </a:lvl1pPr>
            <a:lvl2pPr>
              <a:defRPr sz="975" b="0">
                <a:solidFill>
                  <a:srgbClr val="7C909B"/>
                </a:solidFill>
              </a:defRPr>
            </a:lvl2pPr>
            <a:lvl3pPr>
              <a:defRPr sz="975" b="0">
                <a:solidFill>
                  <a:srgbClr val="7C909B"/>
                </a:solidFill>
              </a:defRPr>
            </a:lvl3pPr>
            <a:lvl4pPr>
              <a:defRPr sz="975" b="0">
                <a:solidFill>
                  <a:srgbClr val="7C909B"/>
                </a:solidFill>
              </a:defRPr>
            </a:lvl4pPr>
            <a:lvl5pPr>
              <a:defRPr sz="975" b="0">
                <a:solidFill>
                  <a:srgbClr val="7C909B"/>
                </a:solidFill>
              </a:defRPr>
            </a:lvl5pPr>
            <a:lvl6pPr>
              <a:defRPr sz="975" b="0">
                <a:solidFill>
                  <a:srgbClr val="7C909B"/>
                </a:solidFill>
              </a:defRPr>
            </a:lvl6pPr>
            <a:lvl7pPr>
              <a:defRPr sz="975" b="0">
                <a:solidFill>
                  <a:srgbClr val="7C909B"/>
                </a:solidFill>
              </a:defRPr>
            </a:lvl7pPr>
            <a:lvl8pPr>
              <a:defRPr sz="975" b="0">
                <a:solidFill>
                  <a:srgbClr val="7C909B"/>
                </a:solidFill>
              </a:defRPr>
            </a:lvl8pPr>
            <a:lvl9pPr>
              <a:defRPr sz="975" b="0">
                <a:solidFill>
                  <a:srgbClr val="7C909B"/>
                </a:solidFill>
              </a:defRPr>
            </a:lvl9pPr>
          </a:lstStyle>
          <a:p xmlns:a="http://schemas.openxmlformats.org/drawingml/2006/main">
            <a:pPr>
              <a:defRPr sz="975" b="0">
                <a:solidFill>
                  <a:srgbClr val="7C909B"/>
                </a:solidFill>
              </a:defRPr>
            </a:pPr>
            <a:r>
              <a:rPr sz="975" b="0">
                <a:solidFill>
                  <a:srgbClr val="7C909B"/>
                </a:solidFill>
              </a:rPr>
              <a:t>09   /   SYNTHETIC PROTOTYPE</a:t>
            </a:r>
          </a:p>
        </p:txBody>
      </p:sp>
    </p:spTree>
    <p:extLst>
      <p:ext uri="{BB962C8B-B14F-4D97-AF65-F5344CB8AC3E}">
        <p14:creationId xmlns:p14="http://schemas.microsoft.com/office/powerpoint/2010/main" val="448417131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7FA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A33FE18-26F0-416A-9EE7-FB76DDBA55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57200"/>
            <a:ext cx="857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>
                <a:solidFill>
                  <a:srgbClr val="00828A"/>
                </a:solidFill>
              </a:defRPr>
            </a:defPPr>
            <a:lvl1pPr>
              <a:defRPr sz="1200" b="1">
                <a:solidFill>
                  <a:srgbClr val="00828A"/>
                </a:solidFill>
              </a:defRPr>
            </a:lvl1pPr>
            <a:lvl2pPr>
              <a:defRPr sz="1200" b="1">
                <a:solidFill>
                  <a:srgbClr val="00828A"/>
                </a:solidFill>
              </a:defRPr>
            </a:lvl2pPr>
            <a:lvl3pPr>
              <a:defRPr sz="1200" b="1">
                <a:solidFill>
                  <a:srgbClr val="00828A"/>
                </a:solidFill>
              </a:defRPr>
            </a:lvl3pPr>
            <a:lvl4pPr>
              <a:defRPr sz="1200" b="1">
                <a:solidFill>
                  <a:srgbClr val="00828A"/>
                </a:solidFill>
              </a:defRPr>
            </a:lvl4pPr>
            <a:lvl5pPr>
              <a:defRPr sz="1200" b="1">
                <a:solidFill>
                  <a:srgbClr val="00828A"/>
                </a:solidFill>
              </a:defRPr>
            </a:lvl5pPr>
            <a:lvl6pPr>
              <a:defRPr sz="1200" b="1">
                <a:solidFill>
                  <a:srgbClr val="00828A"/>
                </a:solidFill>
              </a:defRPr>
            </a:lvl6pPr>
            <a:lvl7pPr>
              <a:defRPr sz="1200" b="1">
                <a:solidFill>
                  <a:srgbClr val="00828A"/>
                </a:solidFill>
              </a:defRPr>
            </a:lvl7pPr>
            <a:lvl8pPr>
              <a:defRPr sz="1200" b="1">
                <a:solidFill>
                  <a:srgbClr val="00828A"/>
                </a:solidFill>
              </a:defRPr>
            </a:lvl8pPr>
            <a:lvl9pPr>
              <a:defRPr sz="1200" b="1">
                <a:solidFill>
                  <a:srgbClr val="00828A"/>
                </a:solidFill>
              </a:defRPr>
            </a:lvl9pPr>
          </a:lstStyle>
          <a:p xmlns:a="http://schemas.openxmlformats.org/drawingml/2006/main">
            <a:pPr>
              <a:defRPr sz="1200" b="1">
                <a:solidFill>
                  <a:srgbClr val="00828A"/>
                </a:solidFill>
              </a:defRPr>
            </a:pPr>
            <a:r>
              <a:rPr sz="1200" b="1">
                <a:solidFill>
                  <a:srgbClr val="00828A"/>
                </a:solidFill>
              </a:rPr>
              <a:t>VYAPAARSAATHI  /  TRACK 03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E6DE5F6-8C4D-41EB-858B-192D2EB647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047750"/>
            <a:ext cx="10572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75" b="1">
                <a:solidFill>
                  <a:srgbClr val="102940"/>
                </a:solidFill>
              </a:defRPr>
            </a:defPPr>
            <a:lvl1pPr>
              <a:defRPr sz="3375" b="1">
                <a:solidFill>
                  <a:srgbClr val="102940"/>
                </a:solidFill>
              </a:defRPr>
            </a:lvl1pPr>
            <a:lvl2pPr>
              <a:defRPr sz="3375" b="1">
                <a:solidFill>
                  <a:srgbClr val="102940"/>
                </a:solidFill>
              </a:defRPr>
            </a:lvl2pPr>
            <a:lvl3pPr>
              <a:defRPr sz="3375" b="1">
                <a:solidFill>
                  <a:srgbClr val="102940"/>
                </a:solidFill>
              </a:defRPr>
            </a:lvl3pPr>
            <a:lvl4pPr>
              <a:defRPr sz="3375" b="1">
                <a:solidFill>
                  <a:srgbClr val="102940"/>
                </a:solidFill>
              </a:defRPr>
            </a:lvl4pPr>
            <a:lvl5pPr>
              <a:defRPr sz="3375" b="1">
                <a:solidFill>
                  <a:srgbClr val="102940"/>
                </a:solidFill>
              </a:defRPr>
            </a:lvl5pPr>
            <a:lvl6pPr>
              <a:defRPr sz="3375" b="1">
                <a:solidFill>
                  <a:srgbClr val="102940"/>
                </a:solidFill>
              </a:defRPr>
            </a:lvl6pPr>
            <a:lvl7pPr>
              <a:defRPr sz="3375" b="1">
                <a:solidFill>
                  <a:srgbClr val="102940"/>
                </a:solidFill>
              </a:defRPr>
            </a:lvl7pPr>
            <a:lvl8pPr>
              <a:defRPr sz="3375" b="1">
                <a:solidFill>
                  <a:srgbClr val="102940"/>
                </a:solidFill>
              </a:defRPr>
            </a:lvl8pPr>
            <a:lvl9pPr>
              <a:defRPr sz="3375" b="1">
                <a:solidFill>
                  <a:srgbClr val="102940"/>
                </a:solidFill>
              </a:defRPr>
            </a:lvl9pPr>
          </a:lstStyle>
          <a:p xmlns:a="http://schemas.openxmlformats.org/drawingml/2006/main">
            <a:pPr>
              <a:defRPr sz="3375" b="1">
                <a:solidFill>
                  <a:srgbClr val="102940"/>
                </a:solidFill>
              </a:defRPr>
            </a:pPr>
            <a:r>
              <a:rPr sz="3375" b="1">
                <a:solidFill>
                  <a:srgbClr val="102940"/>
                </a:solidFill>
              </a:rPr>
              <a:t>Business model and next steps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5606C3B-DD39-4BB6-BAC6-05F2028143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333625"/>
            <a:ext cx="102870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325" b="1">
                <a:solidFill>
                  <a:srgbClr val="173D51"/>
                </a:solidFill>
              </a:defRPr>
            </a:defPPr>
            <a:lvl1pPr>
              <a:defRPr sz="2325" b="1">
                <a:solidFill>
                  <a:srgbClr val="173D51"/>
                </a:solidFill>
              </a:defRPr>
            </a:lvl1pPr>
            <a:lvl2pPr>
              <a:defRPr sz="2325" b="1">
                <a:solidFill>
                  <a:srgbClr val="173D51"/>
                </a:solidFill>
              </a:defRPr>
            </a:lvl2pPr>
            <a:lvl3pPr>
              <a:defRPr sz="2325" b="1">
                <a:solidFill>
                  <a:srgbClr val="173D51"/>
                </a:solidFill>
              </a:defRPr>
            </a:lvl3pPr>
            <a:lvl4pPr>
              <a:defRPr sz="2325" b="1">
                <a:solidFill>
                  <a:srgbClr val="173D51"/>
                </a:solidFill>
              </a:defRPr>
            </a:lvl4pPr>
            <a:lvl5pPr>
              <a:defRPr sz="2325" b="1">
                <a:solidFill>
                  <a:srgbClr val="173D51"/>
                </a:solidFill>
              </a:defRPr>
            </a:lvl5pPr>
            <a:lvl6pPr>
              <a:defRPr sz="2325" b="1">
                <a:solidFill>
                  <a:srgbClr val="173D51"/>
                </a:solidFill>
              </a:defRPr>
            </a:lvl6pPr>
            <a:lvl7pPr>
              <a:defRPr sz="2325" b="1">
                <a:solidFill>
                  <a:srgbClr val="173D51"/>
                </a:solidFill>
              </a:defRPr>
            </a:lvl7pPr>
            <a:lvl8pPr>
              <a:defRPr sz="2325" b="1">
                <a:solidFill>
                  <a:srgbClr val="173D51"/>
                </a:solidFill>
              </a:defRPr>
            </a:lvl8pPr>
            <a:lvl9pPr>
              <a:defRPr sz="2325" b="1">
                <a:solidFill>
                  <a:srgbClr val="173D51"/>
                </a:solidFill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73D51"/>
                </a:solidFill>
              </a:defRPr>
            </a:pPr>
            <a:r>
              <a:rPr sz="2325" b="1">
                <a:solidFill>
                  <a:srgbClr val="173D51"/>
                </a:solidFill>
              </a:rPr>
              <a:t>B2B subscription per store is a hypothesis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2AC08C5-5B62-417B-ADCB-D10E5DB4B6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238625"/>
            <a:ext cx="100965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0">
                <a:solidFill>
                  <a:srgbClr val="506779"/>
                </a:solidFill>
              </a:defRPr>
            </a:defPPr>
            <a:lvl1pPr>
              <a:defRPr sz="1650" b="0">
                <a:solidFill>
                  <a:srgbClr val="506779"/>
                </a:solidFill>
              </a:defRPr>
            </a:lvl1pPr>
            <a:lvl2pPr>
              <a:defRPr sz="1650" b="0">
                <a:solidFill>
                  <a:srgbClr val="506779"/>
                </a:solidFill>
              </a:defRPr>
            </a:lvl2pPr>
            <a:lvl3pPr>
              <a:defRPr sz="1650" b="0">
                <a:solidFill>
                  <a:srgbClr val="506779"/>
                </a:solidFill>
              </a:defRPr>
            </a:lvl3pPr>
            <a:lvl4pPr>
              <a:defRPr sz="1650" b="0">
                <a:solidFill>
                  <a:srgbClr val="506779"/>
                </a:solidFill>
              </a:defRPr>
            </a:lvl4pPr>
            <a:lvl5pPr>
              <a:defRPr sz="1650" b="0">
                <a:solidFill>
                  <a:srgbClr val="506779"/>
                </a:solidFill>
              </a:defRPr>
            </a:lvl5pPr>
            <a:lvl6pPr>
              <a:defRPr sz="1650" b="0">
                <a:solidFill>
                  <a:srgbClr val="506779"/>
                </a:solidFill>
              </a:defRPr>
            </a:lvl6pPr>
            <a:lvl7pPr>
              <a:defRPr sz="1650" b="0">
                <a:solidFill>
                  <a:srgbClr val="506779"/>
                </a:solidFill>
              </a:defRPr>
            </a:lvl7pPr>
            <a:lvl8pPr>
              <a:defRPr sz="1650" b="0">
                <a:solidFill>
                  <a:srgbClr val="506779"/>
                </a:solidFill>
              </a:defRPr>
            </a:lvl8pPr>
            <a:lvl9pPr>
              <a:defRPr sz="1650" b="0">
                <a:solidFill>
                  <a:srgbClr val="506779"/>
                </a:solidFill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506779"/>
                </a:solidFill>
              </a:defRPr>
            </a:pPr>
            <a:r>
              <a:rPr sz="1650" b="0">
                <a:solidFill>
                  <a:srgbClr val="506779"/>
                </a:solidFill>
              </a:rPr>
              <a:t>Interview merchants, validate willingness to pay, then build secure integrations and evaluate the AI layer. Pricing, unit economics and Paytm distribution remain open.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225084C-4B65-4BB0-88D8-137A29666D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353175"/>
            <a:ext cx="8572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0">
                <a:solidFill>
                  <a:srgbClr val="7C909B"/>
                </a:solidFill>
              </a:defRPr>
            </a:defPPr>
            <a:lvl1pPr>
              <a:defRPr sz="975" b="0">
                <a:solidFill>
                  <a:srgbClr val="7C909B"/>
                </a:solidFill>
              </a:defRPr>
            </a:lvl1pPr>
            <a:lvl2pPr>
              <a:defRPr sz="975" b="0">
                <a:solidFill>
                  <a:srgbClr val="7C909B"/>
                </a:solidFill>
              </a:defRPr>
            </a:lvl2pPr>
            <a:lvl3pPr>
              <a:defRPr sz="975" b="0">
                <a:solidFill>
                  <a:srgbClr val="7C909B"/>
                </a:solidFill>
              </a:defRPr>
            </a:lvl3pPr>
            <a:lvl4pPr>
              <a:defRPr sz="975" b="0">
                <a:solidFill>
                  <a:srgbClr val="7C909B"/>
                </a:solidFill>
              </a:defRPr>
            </a:lvl4pPr>
            <a:lvl5pPr>
              <a:defRPr sz="975" b="0">
                <a:solidFill>
                  <a:srgbClr val="7C909B"/>
                </a:solidFill>
              </a:defRPr>
            </a:lvl5pPr>
            <a:lvl6pPr>
              <a:defRPr sz="975" b="0">
                <a:solidFill>
                  <a:srgbClr val="7C909B"/>
                </a:solidFill>
              </a:defRPr>
            </a:lvl6pPr>
            <a:lvl7pPr>
              <a:defRPr sz="975" b="0">
                <a:solidFill>
                  <a:srgbClr val="7C909B"/>
                </a:solidFill>
              </a:defRPr>
            </a:lvl7pPr>
            <a:lvl8pPr>
              <a:defRPr sz="975" b="0">
                <a:solidFill>
                  <a:srgbClr val="7C909B"/>
                </a:solidFill>
              </a:defRPr>
            </a:lvl8pPr>
            <a:lvl9pPr>
              <a:defRPr sz="975" b="0">
                <a:solidFill>
                  <a:srgbClr val="7C909B"/>
                </a:solidFill>
              </a:defRPr>
            </a:lvl9pPr>
          </a:lstStyle>
          <a:p xmlns:a="http://schemas.openxmlformats.org/drawingml/2006/main">
            <a:pPr>
              <a:defRPr sz="975" b="0">
                <a:solidFill>
                  <a:srgbClr val="7C909B"/>
                </a:solidFill>
              </a:defRPr>
            </a:pPr>
            <a:r>
              <a:rPr sz="975" b="0">
                <a:solidFill>
                  <a:srgbClr val="7C909B"/>
                </a:solidFill>
              </a:rPr>
              <a:t>10   /   SYNTHETIC PROTOTYPE</a:t>
            </a:r>
          </a:p>
        </p:txBody>
      </p:sp>
    </p:spTree>
    <p:extLst>
      <p:ext uri="{BB962C8B-B14F-4D97-AF65-F5344CB8AC3E}">
        <p14:creationId xmlns:p14="http://schemas.microsoft.com/office/powerpoint/2010/main" val="1300969198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7FA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EDADFAA-5190-4928-8421-5BAC23EF45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57200"/>
            <a:ext cx="857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>
                <a:solidFill>
                  <a:srgbClr val="00828A"/>
                </a:solidFill>
              </a:defRPr>
            </a:defPPr>
            <a:lvl1pPr>
              <a:defRPr sz="1200" b="1">
                <a:solidFill>
                  <a:srgbClr val="00828A"/>
                </a:solidFill>
              </a:defRPr>
            </a:lvl1pPr>
            <a:lvl2pPr>
              <a:defRPr sz="1200" b="1">
                <a:solidFill>
                  <a:srgbClr val="00828A"/>
                </a:solidFill>
              </a:defRPr>
            </a:lvl2pPr>
            <a:lvl3pPr>
              <a:defRPr sz="1200" b="1">
                <a:solidFill>
                  <a:srgbClr val="00828A"/>
                </a:solidFill>
              </a:defRPr>
            </a:lvl3pPr>
            <a:lvl4pPr>
              <a:defRPr sz="1200" b="1">
                <a:solidFill>
                  <a:srgbClr val="00828A"/>
                </a:solidFill>
              </a:defRPr>
            </a:lvl4pPr>
            <a:lvl5pPr>
              <a:defRPr sz="1200" b="1">
                <a:solidFill>
                  <a:srgbClr val="00828A"/>
                </a:solidFill>
              </a:defRPr>
            </a:lvl5pPr>
            <a:lvl6pPr>
              <a:defRPr sz="1200" b="1">
                <a:solidFill>
                  <a:srgbClr val="00828A"/>
                </a:solidFill>
              </a:defRPr>
            </a:lvl6pPr>
            <a:lvl7pPr>
              <a:defRPr sz="1200" b="1">
                <a:solidFill>
                  <a:srgbClr val="00828A"/>
                </a:solidFill>
              </a:defRPr>
            </a:lvl7pPr>
            <a:lvl8pPr>
              <a:defRPr sz="1200" b="1">
                <a:solidFill>
                  <a:srgbClr val="00828A"/>
                </a:solidFill>
              </a:defRPr>
            </a:lvl8pPr>
            <a:lvl9pPr>
              <a:defRPr sz="1200" b="1">
                <a:solidFill>
                  <a:srgbClr val="00828A"/>
                </a:solidFill>
              </a:defRPr>
            </a:lvl9pPr>
          </a:lstStyle>
          <a:p xmlns:a="http://schemas.openxmlformats.org/drawingml/2006/main">
            <a:pPr>
              <a:defRPr sz="1200" b="1">
                <a:solidFill>
                  <a:srgbClr val="00828A"/>
                </a:solidFill>
              </a:defRPr>
            </a:pPr>
            <a:r>
              <a:rPr sz="1200" b="1">
                <a:solidFill>
                  <a:srgbClr val="00828A"/>
                </a:solidFill>
              </a:rPr>
              <a:t>VYAPAARSAATHI  /  TRACK 03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20B945C-7A1C-4E8E-BE4C-6B6E60D7F6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047750"/>
            <a:ext cx="10572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75" b="1">
                <a:solidFill>
                  <a:srgbClr val="102940"/>
                </a:solidFill>
              </a:defRPr>
            </a:defPPr>
            <a:lvl1pPr>
              <a:defRPr sz="3375" b="1">
                <a:solidFill>
                  <a:srgbClr val="102940"/>
                </a:solidFill>
              </a:defRPr>
            </a:lvl1pPr>
            <a:lvl2pPr>
              <a:defRPr sz="3375" b="1">
                <a:solidFill>
                  <a:srgbClr val="102940"/>
                </a:solidFill>
              </a:defRPr>
            </a:lvl2pPr>
            <a:lvl3pPr>
              <a:defRPr sz="3375" b="1">
                <a:solidFill>
                  <a:srgbClr val="102940"/>
                </a:solidFill>
              </a:defRPr>
            </a:lvl3pPr>
            <a:lvl4pPr>
              <a:defRPr sz="3375" b="1">
                <a:solidFill>
                  <a:srgbClr val="102940"/>
                </a:solidFill>
              </a:defRPr>
            </a:lvl4pPr>
            <a:lvl5pPr>
              <a:defRPr sz="3375" b="1">
                <a:solidFill>
                  <a:srgbClr val="102940"/>
                </a:solidFill>
              </a:defRPr>
            </a:lvl5pPr>
            <a:lvl6pPr>
              <a:defRPr sz="3375" b="1">
                <a:solidFill>
                  <a:srgbClr val="102940"/>
                </a:solidFill>
              </a:defRPr>
            </a:lvl6pPr>
            <a:lvl7pPr>
              <a:defRPr sz="3375" b="1">
                <a:solidFill>
                  <a:srgbClr val="102940"/>
                </a:solidFill>
              </a:defRPr>
            </a:lvl7pPr>
            <a:lvl8pPr>
              <a:defRPr sz="3375" b="1">
                <a:solidFill>
                  <a:srgbClr val="102940"/>
                </a:solidFill>
              </a:defRPr>
            </a:lvl8pPr>
            <a:lvl9pPr>
              <a:defRPr sz="3375" b="1">
                <a:solidFill>
                  <a:srgbClr val="102940"/>
                </a:solidFill>
              </a:defRPr>
            </a:lvl9pPr>
          </a:lstStyle>
          <a:p xmlns:a="http://schemas.openxmlformats.org/drawingml/2006/main">
            <a:pPr>
              <a:defRPr sz="3375" b="1">
                <a:solidFill>
                  <a:srgbClr val="102940"/>
                </a:solidFill>
              </a:defRPr>
            </a:pPr>
            <a:r>
              <a:rPr sz="3375" b="1">
                <a:solidFill>
                  <a:srgbClr val="102940"/>
                </a:solidFill>
              </a:rPr>
              <a:t>Demo and source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68DFCAF-BCF3-4658-B631-4FF0A33872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333625"/>
            <a:ext cx="102870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325" b="1">
                <a:solidFill>
                  <a:srgbClr val="173D51"/>
                </a:solidFill>
              </a:defRPr>
            </a:defPPr>
            <a:lvl1pPr>
              <a:defRPr sz="2325" b="1">
                <a:solidFill>
                  <a:srgbClr val="173D51"/>
                </a:solidFill>
              </a:defRPr>
            </a:lvl1pPr>
            <a:lvl2pPr>
              <a:defRPr sz="2325" b="1">
                <a:solidFill>
                  <a:srgbClr val="173D51"/>
                </a:solidFill>
              </a:defRPr>
            </a:lvl2pPr>
            <a:lvl3pPr>
              <a:defRPr sz="2325" b="1">
                <a:solidFill>
                  <a:srgbClr val="173D51"/>
                </a:solidFill>
              </a:defRPr>
            </a:lvl3pPr>
            <a:lvl4pPr>
              <a:defRPr sz="2325" b="1">
                <a:solidFill>
                  <a:srgbClr val="173D51"/>
                </a:solidFill>
              </a:defRPr>
            </a:lvl4pPr>
            <a:lvl5pPr>
              <a:defRPr sz="2325" b="1">
                <a:solidFill>
                  <a:srgbClr val="173D51"/>
                </a:solidFill>
              </a:defRPr>
            </a:lvl5pPr>
            <a:lvl6pPr>
              <a:defRPr sz="2325" b="1">
                <a:solidFill>
                  <a:srgbClr val="173D51"/>
                </a:solidFill>
              </a:defRPr>
            </a:lvl6pPr>
            <a:lvl7pPr>
              <a:defRPr sz="2325" b="1">
                <a:solidFill>
                  <a:srgbClr val="173D51"/>
                </a:solidFill>
              </a:defRPr>
            </a:lvl7pPr>
            <a:lvl8pPr>
              <a:defRPr sz="2325" b="1">
                <a:solidFill>
                  <a:srgbClr val="173D51"/>
                </a:solidFill>
              </a:defRPr>
            </a:lvl8pPr>
            <a:lvl9pPr>
              <a:defRPr sz="2325" b="1">
                <a:solidFill>
                  <a:srgbClr val="173D51"/>
                </a:solidFill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73D51"/>
                </a:solidFill>
              </a:defRPr>
            </a:pPr>
            <a:r>
              <a:rPr sz="2325" b="1">
                <a:solidFill>
                  <a:srgbClr val="173D51"/>
                </a:solidFill>
              </a:rPr>
              <a:t>Demo: vyapaar-saathi-demo-1023.kapri14312025.chatgpt.site</a:t>
            </a:r>
          </a:p>
          <a:p xmlns:a="http://schemas.openxmlformats.org/drawingml/2006/main">
            <a:pPr>
              <a:defRPr sz="2325" b="1">
                <a:solidFill>
                  <a:srgbClr val="173D51"/>
                </a:solidFill>
              </a:defRPr>
            </a:pPr>
            <a:r>
              <a:rPr sz="2325" b="1">
                <a:solidFill>
                  <a:srgbClr val="173D51"/>
                </a:solidFill>
              </a:rPr>
              <a:t>GitHub: github.com/sahilsaeidkhan/vyapaar-saathi-ai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4E462E6-26A8-4A1E-A38D-36A85C9C81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238625"/>
            <a:ext cx="100965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0">
                <a:solidFill>
                  <a:srgbClr val="506779"/>
                </a:solidFill>
              </a:defRPr>
            </a:defPPr>
            <a:lvl1pPr>
              <a:defRPr sz="1650" b="0">
                <a:solidFill>
                  <a:srgbClr val="506779"/>
                </a:solidFill>
              </a:defRPr>
            </a:lvl1pPr>
            <a:lvl2pPr>
              <a:defRPr sz="1650" b="0">
                <a:solidFill>
                  <a:srgbClr val="506779"/>
                </a:solidFill>
              </a:defRPr>
            </a:lvl2pPr>
            <a:lvl3pPr>
              <a:defRPr sz="1650" b="0">
                <a:solidFill>
                  <a:srgbClr val="506779"/>
                </a:solidFill>
              </a:defRPr>
            </a:lvl3pPr>
            <a:lvl4pPr>
              <a:defRPr sz="1650" b="0">
                <a:solidFill>
                  <a:srgbClr val="506779"/>
                </a:solidFill>
              </a:defRPr>
            </a:lvl4pPr>
            <a:lvl5pPr>
              <a:defRPr sz="1650" b="0">
                <a:solidFill>
                  <a:srgbClr val="506779"/>
                </a:solidFill>
              </a:defRPr>
            </a:lvl5pPr>
            <a:lvl6pPr>
              <a:defRPr sz="1650" b="0">
                <a:solidFill>
                  <a:srgbClr val="506779"/>
                </a:solidFill>
              </a:defRPr>
            </a:lvl6pPr>
            <a:lvl7pPr>
              <a:defRPr sz="1650" b="0">
                <a:solidFill>
                  <a:srgbClr val="506779"/>
                </a:solidFill>
              </a:defRPr>
            </a:lvl7pPr>
            <a:lvl8pPr>
              <a:defRPr sz="1650" b="0">
                <a:solidFill>
                  <a:srgbClr val="506779"/>
                </a:solidFill>
              </a:defRPr>
            </a:lvl8pPr>
            <a:lvl9pPr>
              <a:defRPr sz="1650" b="0">
                <a:solidFill>
                  <a:srgbClr val="506779"/>
                </a:solidFill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506779"/>
                </a:solidFill>
              </a:defRPr>
            </a:pPr>
            <a:r>
              <a:rPr sz="1650" b="0">
                <a:solidFill>
                  <a:srgbClr val="506779"/>
                </a:solidFill>
              </a:rPr>
              <a:t>Stage 1 package · prototype and evidence are available in the accompanying source files.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1497F4D-D4E7-4CB9-8A98-7FC7867E4A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353175"/>
            <a:ext cx="8572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0">
                <a:solidFill>
                  <a:srgbClr val="7C909B"/>
                </a:solidFill>
              </a:defRPr>
            </a:defPPr>
            <a:lvl1pPr>
              <a:defRPr sz="975" b="0">
                <a:solidFill>
                  <a:srgbClr val="7C909B"/>
                </a:solidFill>
              </a:defRPr>
            </a:lvl1pPr>
            <a:lvl2pPr>
              <a:defRPr sz="975" b="0">
                <a:solidFill>
                  <a:srgbClr val="7C909B"/>
                </a:solidFill>
              </a:defRPr>
            </a:lvl2pPr>
            <a:lvl3pPr>
              <a:defRPr sz="975" b="0">
                <a:solidFill>
                  <a:srgbClr val="7C909B"/>
                </a:solidFill>
              </a:defRPr>
            </a:lvl3pPr>
            <a:lvl4pPr>
              <a:defRPr sz="975" b="0">
                <a:solidFill>
                  <a:srgbClr val="7C909B"/>
                </a:solidFill>
              </a:defRPr>
            </a:lvl4pPr>
            <a:lvl5pPr>
              <a:defRPr sz="975" b="0">
                <a:solidFill>
                  <a:srgbClr val="7C909B"/>
                </a:solidFill>
              </a:defRPr>
            </a:lvl5pPr>
            <a:lvl6pPr>
              <a:defRPr sz="975" b="0">
                <a:solidFill>
                  <a:srgbClr val="7C909B"/>
                </a:solidFill>
              </a:defRPr>
            </a:lvl6pPr>
            <a:lvl7pPr>
              <a:defRPr sz="975" b="0">
                <a:solidFill>
                  <a:srgbClr val="7C909B"/>
                </a:solidFill>
              </a:defRPr>
            </a:lvl7pPr>
            <a:lvl8pPr>
              <a:defRPr sz="975" b="0">
                <a:solidFill>
                  <a:srgbClr val="7C909B"/>
                </a:solidFill>
              </a:defRPr>
            </a:lvl8pPr>
            <a:lvl9pPr>
              <a:defRPr sz="975" b="0">
                <a:solidFill>
                  <a:srgbClr val="7C909B"/>
                </a:solidFill>
              </a:defRPr>
            </a:lvl9pPr>
          </a:lstStyle>
          <a:p xmlns:a="http://schemas.openxmlformats.org/drawingml/2006/main">
            <a:pPr>
              <a:defRPr sz="975" b="0">
                <a:solidFill>
                  <a:srgbClr val="7C909B"/>
                </a:solidFill>
              </a:defRPr>
            </a:pPr>
            <a:r>
              <a:rPr sz="975" b="0">
                <a:solidFill>
                  <a:srgbClr val="7C909B"/>
                </a:solidFill>
              </a:rPr>
              <a:t>11   /   SYNTHETIC PROTOTYPE</a:t>
            </a:r>
          </a:p>
        </p:txBody>
      </p:sp>
    </p:spTree>
    <p:extLst>
      <p:ext uri="{BB962C8B-B14F-4D97-AF65-F5344CB8AC3E}">
        <p14:creationId xmlns:p14="http://schemas.microsoft.com/office/powerpoint/2010/main" val="268777102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7FA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D2A5675-6FCF-46FC-9F62-271FA0814E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57200"/>
            <a:ext cx="857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>
                <a:solidFill>
                  <a:srgbClr val="00828A"/>
                </a:solidFill>
              </a:defRPr>
            </a:defPPr>
            <a:lvl1pPr>
              <a:defRPr sz="1200" b="1">
                <a:solidFill>
                  <a:srgbClr val="00828A"/>
                </a:solidFill>
              </a:defRPr>
            </a:lvl1pPr>
            <a:lvl2pPr>
              <a:defRPr sz="1200" b="1">
                <a:solidFill>
                  <a:srgbClr val="00828A"/>
                </a:solidFill>
              </a:defRPr>
            </a:lvl2pPr>
            <a:lvl3pPr>
              <a:defRPr sz="1200" b="1">
                <a:solidFill>
                  <a:srgbClr val="00828A"/>
                </a:solidFill>
              </a:defRPr>
            </a:lvl3pPr>
            <a:lvl4pPr>
              <a:defRPr sz="1200" b="1">
                <a:solidFill>
                  <a:srgbClr val="00828A"/>
                </a:solidFill>
              </a:defRPr>
            </a:lvl4pPr>
            <a:lvl5pPr>
              <a:defRPr sz="1200" b="1">
                <a:solidFill>
                  <a:srgbClr val="00828A"/>
                </a:solidFill>
              </a:defRPr>
            </a:lvl5pPr>
            <a:lvl6pPr>
              <a:defRPr sz="1200" b="1">
                <a:solidFill>
                  <a:srgbClr val="00828A"/>
                </a:solidFill>
              </a:defRPr>
            </a:lvl6pPr>
            <a:lvl7pPr>
              <a:defRPr sz="1200" b="1">
                <a:solidFill>
                  <a:srgbClr val="00828A"/>
                </a:solidFill>
              </a:defRPr>
            </a:lvl7pPr>
            <a:lvl8pPr>
              <a:defRPr sz="1200" b="1">
                <a:solidFill>
                  <a:srgbClr val="00828A"/>
                </a:solidFill>
              </a:defRPr>
            </a:lvl8pPr>
            <a:lvl9pPr>
              <a:defRPr sz="1200" b="1">
                <a:solidFill>
                  <a:srgbClr val="00828A"/>
                </a:solidFill>
              </a:defRPr>
            </a:lvl9pPr>
          </a:lstStyle>
          <a:p xmlns:a="http://schemas.openxmlformats.org/drawingml/2006/main">
            <a:pPr>
              <a:defRPr sz="1200" b="1">
                <a:solidFill>
                  <a:srgbClr val="00828A"/>
                </a:solidFill>
              </a:defRPr>
            </a:pPr>
            <a:r>
              <a:rPr sz="1200" b="1">
                <a:solidFill>
                  <a:srgbClr val="00828A"/>
                </a:solidFill>
              </a:rPr>
              <a:t>VYAPAARSAATHI  /  TRACK 03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D520E35-D04D-4307-A460-7FB9DD7C31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047750"/>
            <a:ext cx="10572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75" b="1">
                <a:solidFill>
                  <a:srgbClr val="102940"/>
                </a:solidFill>
              </a:defRPr>
            </a:defPPr>
            <a:lvl1pPr>
              <a:defRPr sz="3375" b="1">
                <a:solidFill>
                  <a:srgbClr val="102940"/>
                </a:solidFill>
              </a:defRPr>
            </a:lvl1pPr>
            <a:lvl2pPr>
              <a:defRPr sz="3375" b="1">
                <a:solidFill>
                  <a:srgbClr val="102940"/>
                </a:solidFill>
              </a:defRPr>
            </a:lvl2pPr>
            <a:lvl3pPr>
              <a:defRPr sz="3375" b="1">
                <a:solidFill>
                  <a:srgbClr val="102940"/>
                </a:solidFill>
              </a:defRPr>
            </a:lvl3pPr>
            <a:lvl4pPr>
              <a:defRPr sz="3375" b="1">
                <a:solidFill>
                  <a:srgbClr val="102940"/>
                </a:solidFill>
              </a:defRPr>
            </a:lvl4pPr>
            <a:lvl5pPr>
              <a:defRPr sz="3375" b="1">
                <a:solidFill>
                  <a:srgbClr val="102940"/>
                </a:solidFill>
              </a:defRPr>
            </a:lvl5pPr>
            <a:lvl6pPr>
              <a:defRPr sz="3375" b="1">
                <a:solidFill>
                  <a:srgbClr val="102940"/>
                </a:solidFill>
              </a:defRPr>
            </a:lvl6pPr>
            <a:lvl7pPr>
              <a:defRPr sz="3375" b="1">
                <a:solidFill>
                  <a:srgbClr val="102940"/>
                </a:solidFill>
              </a:defRPr>
            </a:lvl7pPr>
            <a:lvl8pPr>
              <a:defRPr sz="3375" b="1">
                <a:solidFill>
                  <a:srgbClr val="102940"/>
                </a:solidFill>
              </a:defRPr>
            </a:lvl8pPr>
            <a:lvl9pPr>
              <a:defRPr sz="3375" b="1">
                <a:solidFill>
                  <a:srgbClr val="102940"/>
                </a:solidFill>
              </a:defRPr>
            </a:lvl9pPr>
          </a:lstStyle>
          <a:p xmlns:a="http://schemas.openxmlformats.org/drawingml/2006/main">
            <a:pPr>
              <a:defRPr sz="3375" b="1">
                <a:solidFill>
                  <a:srgbClr val="102940"/>
                </a:solidFill>
              </a:defRPr>
            </a:pPr>
            <a:r>
              <a:rPr sz="3375" b="1">
                <a:solidFill>
                  <a:srgbClr val="102940"/>
                </a:solidFill>
              </a:rPr>
              <a:t>Research sources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E908E64-B005-4CFB-8534-7C2B76F237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333625"/>
            <a:ext cx="102870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325" b="1">
                <a:solidFill>
                  <a:srgbClr val="173D51"/>
                </a:solidFill>
              </a:defRPr>
            </a:defPPr>
            <a:lvl1pPr>
              <a:defRPr sz="2325" b="1">
                <a:solidFill>
                  <a:srgbClr val="173D51"/>
                </a:solidFill>
              </a:defRPr>
            </a:lvl1pPr>
            <a:lvl2pPr>
              <a:defRPr sz="2325" b="1">
                <a:solidFill>
                  <a:srgbClr val="173D51"/>
                </a:solidFill>
              </a:defRPr>
            </a:lvl2pPr>
            <a:lvl3pPr>
              <a:defRPr sz="2325" b="1">
                <a:solidFill>
                  <a:srgbClr val="173D51"/>
                </a:solidFill>
              </a:defRPr>
            </a:lvl3pPr>
            <a:lvl4pPr>
              <a:defRPr sz="2325" b="1">
                <a:solidFill>
                  <a:srgbClr val="173D51"/>
                </a:solidFill>
              </a:defRPr>
            </a:lvl4pPr>
            <a:lvl5pPr>
              <a:defRPr sz="2325" b="1">
                <a:solidFill>
                  <a:srgbClr val="173D51"/>
                </a:solidFill>
              </a:defRPr>
            </a:lvl5pPr>
            <a:lvl6pPr>
              <a:defRPr sz="2325" b="1">
                <a:solidFill>
                  <a:srgbClr val="173D51"/>
                </a:solidFill>
              </a:defRPr>
            </a:lvl6pPr>
            <a:lvl7pPr>
              <a:defRPr sz="2325" b="1">
                <a:solidFill>
                  <a:srgbClr val="173D51"/>
                </a:solidFill>
              </a:defRPr>
            </a:lvl7pPr>
            <a:lvl8pPr>
              <a:defRPr sz="2325" b="1">
                <a:solidFill>
                  <a:srgbClr val="173D51"/>
                </a:solidFill>
              </a:defRPr>
            </a:lvl8pPr>
            <a:lvl9pPr>
              <a:defRPr sz="2325" b="1">
                <a:solidFill>
                  <a:srgbClr val="173D51"/>
                </a:solidFill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73D51"/>
                </a:solidFill>
              </a:defRPr>
            </a:pPr>
            <a:r>
              <a:rPr sz="2325" b="1">
                <a:solidFill>
                  <a:srgbClr val="173D51"/>
                </a:solidFill>
              </a:rPr>
              <a:t>Paytm callback and webhook documentation</a:t>
            </a:r>
          </a:p>
          <a:p xmlns:a="http://schemas.openxmlformats.org/drawingml/2006/main">
            <a:pPr>
              <a:defRPr sz="2325" b="1">
                <a:solidFill>
                  <a:srgbClr val="173D51"/>
                </a:solidFill>
              </a:defRPr>
            </a:pPr>
            <a:r>
              <a:rPr sz="2325" b="1">
                <a:solidFill>
                  <a:srgbClr val="173D51"/>
                </a:solidFill>
              </a:rPr>
              <a:t>Cashfree payment reconciliation</a:t>
            </a:r>
          </a:p>
          <a:p xmlns:a="http://schemas.openxmlformats.org/drawingml/2006/main">
            <a:pPr>
              <a:defRPr sz="2325" b="1">
                <a:solidFill>
                  <a:srgbClr val="173D51"/>
                </a:solidFill>
              </a:defRPr>
            </a:pPr>
            <a:r>
              <a:rPr sz="2325" b="1">
                <a:solidFill>
                  <a:srgbClr val="173D51"/>
                </a:solidFill>
              </a:rPr>
              <a:t>Zoho FSM assets and service appointments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6930C37-87EE-4859-B1AE-1FC8C805F6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238625"/>
            <a:ext cx="100965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0">
                <a:solidFill>
                  <a:srgbClr val="506779"/>
                </a:solidFill>
              </a:defRPr>
            </a:defPPr>
            <a:lvl1pPr>
              <a:defRPr sz="1650" b="0">
                <a:solidFill>
                  <a:srgbClr val="506779"/>
                </a:solidFill>
              </a:defRPr>
            </a:lvl1pPr>
            <a:lvl2pPr>
              <a:defRPr sz="1650" b="0">
                <a:solidFill>
                  <a:srgbClr val="506779"/>
                </a:solidFill>
              </a:defRPr>
            </a:lvl2pPr>
            <a:lvl3pPr>
              <a:defRPr sz="1650" b="0">
                <a:solidFill>
                  <a:srgbClr val="506779"/>
                </a:solidFill>
              </a:defRPr>
            </a:lvl3pPr>
            <a:lvl4pPr>
              <a:defRPr sz="1650" b="0">
                <a:solidFill>
                  <a:srgbClr val="506779"/>
                </a:solidFill>
              </a:defRPr>
            </a:lvl4pPr>
            <a:lvl5pPr>
              <a:defRPr sz="1650" b="0">
                <a:solidFill>
                  <a:srgbClr val="506779"/>
                </a:solidFill>
              </a:defRPr>
            </a:lvl5pPr>
            <a:lvl6pPr>
              <a:defRPr sz="1650" b="0">
                <a:solidFill>
                  <a:srgbClr val="506779"/>
                </a:solidFill>
              </a:defRPr>
            </a:lvl6pPr>
            <a:lvl7pPr>
              <a:defRPr sz="1650" b="0">
                <a:solidFill>
                  <a:srgbClr val="506779"/>
                </a:solidFill>
              </a:defRPr>
            </a:lvl7pPr>
            <a:lvl8pPr>
              <a:defRPr sz="1650" b="0">
                <a:solidFill>
                  <a:srgbClr val="506779"/>
                </a:solidFill>
              </a:defRPr>
            </a:lvl8pPr>
            <a:lvl9pPr>
              <a:defRPr sz="1650" b="0">
                <a:solidFill>
                  <a:srgbClr val="506779"/>
                </a:solidFill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506779"/>
                </a:solidFill>
              </a:defRPr>
            </a:pPr>
            <a:r>
              <a:rPr sz="1650" b="0">
                <a:solidFill>
                  <a:srgbClr val="506779"/>
                </a:solidFill>
              </a:rPr>
              <a:t>Closest public comparator: Paytm AI Customer Resolution Teammate. Full direct source links and a three-workflow comparison are in RESEARCH.md.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2CDA6F6-D23E-4BFE-8FD5-50EEBF5703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353175"/>
            <a:ext cx="8572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0">
                <a:solidFill>
                  <a:srgbClr val="7C909B"/>
                </a:solidFill>
              </a:defRPr>
            </a:defPPr>
            <a:lvl1pPr>
              <a:defRPr sz="975" b="0">
                <a:solidFill>
                  <a:srgbClr val="7C909B"/>
                </a:solidFill>
              </a:defRPr>
            </a:lvl1pPr>
            <a:lvl2pPr>
              <a:defRPr sz="975" b="0">
                <a:solidFill>
                  <a:srgbClr val="7C909B"/>
                </a:solidFill>
              </a:defRPr>
            </a:lvl2pPr>
            <a:lvl3pPr>
              <a:defRPr sz="975" b="0">
                <a:solidFill>
                  <a:srgbClr val="7C909B"/>
                </a:solidFill>
              </a:defRPr>
            </a:lvl3pPr>
            <a:lvl4pPr>
              <a:defRPr sz="975" b="0">
                <a:solidFill>
                  <a:srgbClr val="7C909B"/>
                </a:solidFill>
              </a:defRPr>
            </a:lvl4pPr>
            <a:lvl5pPr>
              <a:defRPr sz="975" b="0">
                <a:solidFill>
                  <a:srgbClr val="7C909B"/>
                </a:solidFill>
              </a:defRPr>
            </a:lvl5pPr>
            <a:lvl6pPr>
              <a:defRPr sz="975" b="0">
                <a:solidFill>
                  <a:srgbClr val="7C909B"/>
                </a:solidFill>
              </a:defRPr>
            </a:lvl6pPr>
            <a:lvl7pPr>
              <a:defRPr sz="975" b="0">
                <a:solidFill>
                  <a:srgbClr val="7C909B"/>
                </a:solidFill>
              </a:defRPr>
            </a:lvl7pPr>
            <a:lvl8pPr>
              <a:defRPr sz="975" b="0">
                <a:solidFill>
                  <a:srgbClr val="7C909B"/>
                </a:solidFill>
              </a:defRPr>
            </a:lvl8pPr>
            <a:lvl9pPr>
              <a:defRPr sz="975" b="0">
                <a:solidFill>
                  <a:srgbClr val="7C909B"/>
                </a:solidFill>
              </a:defRPr>
            </a:lvl9pPr>
          </a:lstStyle>
          <a:p xmlns:a="http://schemas.openxmlformats.org/drawingml/2006/main">
            <a:pPr>
              <a:defRPr sz="975" b="0">
                <a:solidFill>
                  <a:srgbClr val="7C909B"/>
                </a:solidFill>
              </a:defRPr>
            </a:pPr>
            <a:r>
              <a:rPr sz="975" b="0">
                <a:solidFill>
                  <a:srgbClr val="7C909B"/>
                </a:solidFill>
              </a:rPr>
              <a:t>12   /   SYNTHETIC PROTOTYPE</a:t>
            </a:r>
          </a:p>
        </p:txBody>
      </p:sp>
    </p:spTree>
    <p:extLst>
      <p:ext uri="{BB962C8B-B14F-4D97-AF65-F5344CB8AC3E}">
        <p14:creationId xmlns:p14="http://schemas.microsoft.com/office/powerpoint/2010/main" val="208575801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2026-10-23T11:09:10.1030000Z</dcterms:created>
  <dcterms:modified xsi:type="dcterms:W3CDTF">2026-10-23T11:09:10.1030000Z</dcterms:modified>
</coreProperties>
</file>